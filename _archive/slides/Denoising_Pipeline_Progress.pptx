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PROGRESS · METHODS REVIEW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Resting-state fMRI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Denoising Pipeline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quality control, subject exclusion, and post-fMRIPrep denoising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DMT-MED dataset</a:t>
            </a:r>
            <a:pPr indent="0" marL="0">
              <a:buNone/>
            </a:pPr>
            <a:r>
              <a:rPr lang="en-US" sz="140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40 subjects × 2 sessions   ·   fMRIPrep 23.0.2   ·   MNI152NLin2009cAsym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after Goldberg et al. (2024), Imaging Neuroscience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THIS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denoising work sits in the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2606040" cy="1280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317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Motion QC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computation,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censoring,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exclusion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434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today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18104" y="27432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C3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429000" y="1920240"/>
            <a:ext cx="2606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920240"/>
            <a:ext cx="2606040" cy="1280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3749040" y="23317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703320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Denoising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03320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regression,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interpolation,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bandpass filter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03320" y="4434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today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98464" y="27432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C3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309360" y="1920240"/>
            <a:ext cx="2606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920240"/>
            <a:ext cx="2606040" cy="1280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6629400" y="23317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583680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QC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83680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DVARS pre/post,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FD–DVARS coupling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4434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today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878824" y="27432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C3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9189720" y="1920240"/>
            <a:ext cx="2606040" cy="2834640"/>
          </a:xfrm>
          <a:prstGeom prst="rect">
            <a:avLst/>
          </a:prstGeom>
          <a:solidFill>
            <a:srgbClr val="F2F6F8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89720" y="1920240"/>
            <a:ext cx="2606040" cy="128016"/>
          </a:xfrm>
          <a:prstGeom prst="rect">
            <a:avLst/>
          </a:prstGeom>
          <a:solidFill>
            <a:srgbClr val="D8E2E8"/>
          </a:solidFill>
          <a:ln/>
        </p:spPr>
      </p:sp>
      <p:sp>
        <p:nvSpPr>
          <p:cNvPr id="30" name="Shape 28"/>
          <p:cNvSpPr/>
          <p:nvPr/>
        </p:nvSpPr>
        <p:spPr>
          <a:xfrm>
            <a:off x="9509760" y="2331720"/>
            <a:ext cx="640080" cy="640080"/>
          </a:xfrm>
          <a:prstGeom prst="ellipse">
            <a:avLst/>
          </a:prstGeom>
          <a:solidFill>
            <a:srgbClr val="5A6B78"/>
          </a:solidFill>
          <a:ln/>
        </p:spPr>
      </p:sp>
      <p:sp>
        <p:nvSpPr>
          <p:cNvPr id="31" name="Text 29"/>
          <p:cNvSpPr/>
          <p:nvPr/>
        </p:nvSpPr>
        <p:spPr>
          <a:xfrm>
            <a:off x="95097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464040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Downstream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464040" y="36118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 → ACW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vs non-self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464040" y="4434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covers steps 1–3: everything from raw fMRIPrep confounds through denoised, QC-validated BOLD.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acquisition parameters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11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 sessions (ses-01 / ses-02)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38728" y="18745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67328" y="2011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1.8 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767328" y="2697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67328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from BOLD JSON header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28816" y="18745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57416" y="2011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757416" y="2697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/ run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57416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432 s = 7.2 min resting-state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18904" y="18745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47504" y="2011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0.556 Hz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747504" y="2697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47504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Nyquist 0.278 Hz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11091672" cy="2286000"/>
          </a:xfrm>
          <a:prstGeom prst="rect">
            <a:avLst/>
          </a:prstGeom>
          <a:solidFill>
            <a:srgbClr val="F2F6F8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3931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provenance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2976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fMRIPrep 23.0.2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space: MNI152NLin2009cAsym (volumetric)   ·   BIDS 1.4.0   ·   BOLD grid 113 × 134 × 97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Phase-encode direction: j (Y axis) → trans_y is the phase-encode motion parameter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denoising runs on fMRIPrep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desc-preproc_bold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fMRIPrep outputs are treated as read-only. AROMA file not used.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MOTION QC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Framewise displacement (FD)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FD is computed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Power et al. (2012) FD, as produced by fMRIPrep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1-TR backward differences of the 6 motion parameters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Rotations converted on a 50 mm radius sphere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utils/motion_qc.py (compute_custom_fd)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4526280"/>
            <a:ext cx="4846320" cy="1325880"/>
          </a:xfrm>
          <a:prstGeom prst="rect">
            <a:avLst/>
          </a:prstGeom>
          <a:solidFill>
            <a:srgbClr val="F2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66344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4-TR window?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Lynch/Goldberg 4-TR differencing has no published guidance for non-HCP TRs; all major pipelines use 1-TR, so we keep 1-TR.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468112" cy="4160520"/>
          </a:xfrm>
          <a:prstGeom prst="rect">
            <a:avLst/>
          </a:prstGeom>
          <a:solidFill>
            <a:srgbClr val="21295C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Respiratory filtering: tested, not applied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27432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(2019) PSD inspection of trans_y (the phase-encode parameter)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respiratory peaks observed in the motion spectrum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Band-stop respiratory notch filter is unnecessary for this dataset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92240" y="5440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Empirically justified — script: respiratory_spectrum_check.py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MOTION QC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 censoring &amp; subject exclusion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832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57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FD &gt; 0.3 mm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Frame-censoring threshold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Goldberg et al. (2024) recommendation for ACW; ACW is sensitive to residual motion spikes. Confirmed with supervisor.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4206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&gt;50%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4800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Subject-exclusion rule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120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run with &gt;50% frames censored → entire subject excluded (within-subject design).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0" y="1874520"/>
            <a:ext cx="7525512" cy="4160520"/>
          </a:xfrm>
          <a:prstGeom prst="rect">
            <a:avLst/>
          </a:prstGeom>
          <a:solidFill>
            <a:srgbClr val="F2F6F8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0" y="20574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9120" y="25146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subjects excluded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0" y="28803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880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sub-06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06440" y="28803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2880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sub-08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23760" y="28803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880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41080" y="28803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41080" y="2880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sub-26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058400" y="28803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0" y="2880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sub-36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89120" y="3703320"/>
            <a:ext cx="6949440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39319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pPr indent="0" marL="0">
              <a:buNone/>
            </a:pPr>
            <a:r>
              <a:rPr lang="en-US" sz="2000" dirty="0">
                <a:solidFill>
                  <a:srgbClr val="5A6B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subjects</a:t>
            </a:r>
            <a:pPr indent="0" marL="0">
              <a:buNone/>
            </a:pPr>
            <a:r>
              <a:rPr lang="en-US" sz="2000" dirty="0">
                <a:solidFill>
                  <a:srgbClr val="5A6B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×  2 sessions  =  </a:t>
            </a:r>
            <a:pPr indent="0" marL="0">
              <a:buNone/>
            </a:pPr>
            <a:r>
              <a:rPr lang="en-US" sz="5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</a:t>
            </a:r>
            <a:pPr indent="0" marL="0">
              <a:buNone/>
            </a:pPr>
            <a:r>
              <a:rPr lang="en-US" sz="2000" dirty="0">
                <a:solidFill>
                  <a:srgbClr val="5A6B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runs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4389120" y="50292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analysis sample. Excluded subjects are removed from every downstream step via utils/subject_filter.py.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DENOISING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overview — single-GLM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755648" cy="1508760"/>
          </a:xfrm>
          <a:prstGeom prst="roundRect">
            <a:avLst>
              <a:gd name="adj" fmla="val 4848"/>
            </a:avLst>
          </a:prstGeom>
          <a:solidFill>
            <a:srgbClr val="21295C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251460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fMRIPrep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 BOLD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1792" y="3264408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86000" y="2331720"/>
            <a:ext cx="1554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23160" y="2331720"/>
            <a:ext cx="17556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96312" y="251460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nuisance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regressors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496312" y="3264408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detrend + z-score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60520" y="2331720"/>
            <a:ext cx="1554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97680" y="2331720"/>
            <a:ext cx="17556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70832" y="251460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GLM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370832" y="3264408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residuals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35040" y="2331720"/>
            <a:ext cx="1554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72200" y="2331720"/>
            <a:ext cx="17556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45352" y="251460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Lomb-Scargle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interpolation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45352" y="3264408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censored frames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09560" y="2331720"/>
            <a:ext cx="1554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46720" y="2331720"/>
            <a:ext cx="17556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19872" y="251460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Bandpass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0.01–0.1 Hz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119872" y="3264408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mask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784080" y="2331720"/>
            <a:ext cx="1554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921240" y="2331720"/>
            <a:ext cx="1755648" cy="1508760"/>
          </a:xfrm>
          <a:prstGeom prst="roundRect">
            <a:avLst>
              <a:gd name="adj" fmla="val 4848"/>
            </a:avLst>
          </a:prstGeom>
          <a:solidFill>
            <a:srgbClr val="21295C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994392" y="251460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Denoised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BOLD ×2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994392" y="3264408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±GSR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343400"/>
            <a:ext cx="11091672" cy="1691640"/>
          </a:xfrm>
          <a:prstGeom prst="rect">
            <a:avLst/>
          </a:prstGeom>
          <a:solidFill>
            <a:srgbClr val="F2F6F8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44988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4864608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combined GLM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sequential steps) — all nuisance signals regressed simultaneously.   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only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(MNI152NLin2009cAsym).  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censoring always on.   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versions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per run: +GSR and −GSR.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DENOISING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GLM nuisance regressors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766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91440" cy="7132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8308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 + CSF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83080" y="22585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white-matter &amp; CSF signals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6766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633472"/>
            <a:ext cx="91440" cy="7132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33472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83080" y="2724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83080" y="3017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trans_x/y/z, rot_x/y/z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6766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392424"/>
            <a:ext cx="91440" cy="7132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92424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83080" y="34838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83080" y="377647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derivatives of the 6 motion params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51376"/>
            <a:ext cx="6766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151376"/>
            <a:ext cx="91440" cy="7132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51376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783080" y="42428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regressors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83080" y="453542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FD &gt; 0.3 mm frame (delta functions)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910328"/>
            <a:ext cx="6766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910328"/>
            <a:ext cx="91440" cy="7132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910328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/ 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783080" y="5001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783080" y="529437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signal — present only in +GSR version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43800" y="1874520"/>
            <a:ext cx="4096512" cy="3749040"/>
          </a:xfrm>
          <a:prstGeom prst="rect">
            <a:avLst/>
          </a:prstGeom>
          <a:solidFill>
            <a:srgbClr val="21295C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Regressor processing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72400" y="2514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values → 0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detrend of BOLD &amp; regressors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Z-scored before fitting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least-squares (np.linalg.lstsq)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GLM residuals inside the brain mask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772400" y="5212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denoise_core.py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DENOISING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Censoring, interpolation &amp; bandpass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57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C3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21214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Censor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High-motion frames (FD &gt; 0.3 mm) are removed from the residual timeseries before filtering.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06240" y="1874520"/>
            <a:ext cx="3520440" cy="4160520"/>
          </a:xfrm>
          <a:prstGeom prst="rect">
            <a:avLst/>
          </a:prstGeom>
          <a:solidFill>
            <a:srgbClr val="F2F6F8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34840" y="2057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74920" y="21214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Lomb-Scargle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34840" y="274320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Censored frames reconstructed by Lomb-Scargle interpolation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 port of CBIG_preproc_censor.m (Li / Yeo Lab)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et al. (2014), Eq. 3–4; oversample ×8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863840" y="1874520"/>
            <a:ext cx="3776472" cy="4160520"/>
          </a:xfrm>
          <a:prstGeom prst="rect">
            <a:avLst/>
          </a:prstGeom>
          <a:solidFill>
            <a:srgbClr val="21295C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92440" y="2057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C3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732520" y="2121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Bandpass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92440" y="2788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C3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0.01 – 0.1 Hz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092440" y="347472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via frequency-domain masking — out-of-band coefficients zeroed.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Butterworth filter; band-limiting is built into the LS reconstruction.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DENOISING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 &amp; batch 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denoised versions per run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4937760" cy="868680"/>
          </a:xfrm>
          <a:prstGeom prst="rect">
            <a:avLst/>
          </a:prstGeom>
          <a:solidFill>
            <a:srgbClr val="F2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51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desc-denoisedNoGSR_bold.nii.gz
</a:t>
            </a:r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global signal regression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4937760" cy="868680"/>
          </a:xfrm>
          <a:prstGeom prst="rect">
            <a:avLst/>
          </a:prstGeom>
          <a:solidFill>
            <a:srgbClr val="F2F6F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611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desc-denoisedGSR_bold.nii.gz
</a:t>
            </a:r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global signal regression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Naming: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sub-XX_ses-YY_task-rest_desc-…_bold.nii.gz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(float32, zeros outside brain mask)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874520"/>
            <a:ext cx="5468112" cy="4160520"/>
          </a:xfrm>
          <a:prstGeom prst="rect">
            <a:avLst/>
          </a:prstGeom>
          <a:solidFill>
            <a:srgbClr val="21295C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run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46520" y="2560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</a:t>
            </a:r>
            <a:pPr indent="0" marL="0">
              <a:buNone/>
            </a:pPr>
            <a:r>
              <a:rPr lang="en-US" sz="1800" dirty="0">
                <a:solidFill>
                  <a:srgbClr val="9CC3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runs processed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446520" y="3383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included subjects × 2 sessions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39319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core logic in denoise_core.py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Single-subject test script validated on sub-01 ses-01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skips existing outputs; per-run log appended to _batch_log.tsv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QC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Denoising validation — DVARS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931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38100" dir="8100000">
              <a:srgbClr val="21295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57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DVARS computed pre- vs post-denoising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across raw, −GSR, and +GSR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FD–DVARS coupling assessed (Pearson r)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Low-motion (sub-01) &amp; high-motion (sub-21) runs retained as evidence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5577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qc_dvars_comparison.py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17720" y="1874520"/>
            <a:ext cx="7022592" cy="4160520"/>
          </a:xfrm>
          <a:prstGeom prst="rect">
            <a:avLst/>
          </a:prstGeom>
          <a:solidFill>
            <a:srgbClr val="F2F6F8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892040" y="2103120"/>
            <a:ext cx="647395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2103120"/>
            <a:ext cx="109728" cy="84124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217627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 (threshold 0.3 mm)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2670048"/>
            <a:ext cx="6035040" cy="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3035808"/>
            <a:ext cx="647395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3035808"/>
            <a:ext cx="109728" cy="841248"/>
          </a:xfrm>
          <a:prstGeom prst="rect">
            <a:avLst/>
          </a:prstGeom>
          <a:solidFill>
            <a:srgbClr val="3D5A6C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31089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DVARS — raw fMRIPrep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0" y="3602736"/>
            <a:ext cx="6035040" cy="0"/>
          </a:xfrm>
          <a:prstGeom prst="line">
            <a:avLst/>
          </a:prstGeom>
          <a:noFill/>
          <a:ln w="19050">
            <a:solidFill>
              <a:srgbClr val="3D5A6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3968496"/>
            <a:ext cx="647395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3968496"/>
            <a:ext cx="109728" cy="841248"/>
          </a:xfrm>
          <a:prstGeom prst="rect">
            <a:avLst/>
          </a:prstGeom>
          <a:solidFill>
            <a:srgbClr val="7A95A6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404164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DVARS — post-denoising −GSR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20640" y="4535424"/>
            <a:ext cx="6035040" cy="0"/>
          </a:xfrm>
          <a:prstGeom prst="line">
            <a:avLst/>
          </a:prstGeom>
          <a:noFill/>
          <a:ln w="19050">
            <a:solidFill>
              <a:srgbClr val="7A95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4901184"/>
            <a:ext cx="647395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4901184"/>
            <a:ext cx="109728" cy="8412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497433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DVARS — post-denoising +GSR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5468112"/>
            <a:ext cx="6035040" cy="0"/>
          </a:xfrm>
          <a:prstGeom prst="line">
            <a:avLst/>
          </a:prstGeom>
          <a:noFill/>
          <a:ln w="19050">
            <a:solidFill>
              <a:srgbClr val="8B73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6080760"/>
            <a:ext cx="7022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placeholder — export sub-01 &amp; sub-21 DVARS panels from the server (figures live in 99_QC/02_denoising_qc/figures/)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pipeline stands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01168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QC complete   </a:t>
            </a:r>
            <a:pPr indent="0" marL="0">
              <a:buNone/>
            </a:pPr>
            <a:r>
              <a:rPr lang="en-US" sz="130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2012 FD, 0.3 mm threshold, respiratory filter ruled out empirically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76148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34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6700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locked   </a:t>
            </a:r>
            <a:pPr indent="0" marL="0">
              <a:buNone/>
            </a:pPr>
            <a:r>
              <a:rPr lang="en-US" sz="130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subjects excluded → 35 subjects × 2 sessions = 70 runs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341985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32841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implemented   </a:t>
            </a:r>
            <a:pPr indent="0" marL="0">
              <a:buNone/>
            </a:pPr>
            <a:r>
              <a:rPr lang="en-US" sz="130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Single-GLM + LS interpolation + 0.01–0.1 Hz bandpass, ±GSR, all 70 runs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8680" y="407822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98678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validated   </a:t>
            </a:r>
            <a:pPr indent="0" marL="0">
              <a:buNone/>
            </a:pPr>
            <a:r>
              <a:rPr lang="en-US" sz="130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DVARS pre/post + FD–DVARS coupling on low- and high-motion subjects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21040" y="2057400"/>
            <a:ext cx="3319272" cy="3337560"/>
          </a:xfrm>
          <a:prstGeom prst="rect">
            <a:avLst/>
          </a:prstGeom>
          <a:solidFill>
            <a:srgbClr val="2A356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95360" y="2697480"/>
            <a:ext cx="2788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timeseries extraction (Glasser, Keskin 2025)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ACW computation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vs non-self, pre vs post-retreat, DMT vs non-DMT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after Goldberg et al. (2024) · DMT-MED · MNI152NLin2009cAsym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Denoising Pipeline — Progress Report</dc:title>
  <dc:subject>PptxGenJS Presentation</dc:subject>
  <dc:creator>Jasmine</dc:creator>
  <cp:lastModifiedBy>Jasmine</cp:lastModifiedBy>
  <cp:revision>1</cp:revision>
  <dcterms:created xsi:type="dcterms:W3CDTF">2026-06-17T21:26:52Z</dcterms:created>
  <dcterms:modified xsi:type="dcterms:W3CDTF">2026-06-17T21:26:52Z</dcterms:modified>
</cp:coreProperties>
</file>