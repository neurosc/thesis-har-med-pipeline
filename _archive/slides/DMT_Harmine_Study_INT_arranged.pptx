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5"/>
    <p:sldMasterId id="214748366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EE6EC1F-E288-4722-AA9E-F200959004B1}">
  <a:tblStyle styleId="{2EE6EC1F-E288-4722-AA9E-F200959004B1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fill>
          <a:solidFill>
            <a:srgbClr val="CDD4EA"/>
          </a:solidFill>
        </a:fill>
      </a:tcStyle>
    </a:band1H>
    <a:band2H>
      <a:tcTxStyle/>
    </a:band2H>
    <a:band1V>
      <a:tcTxStyle/>
      <a:tcStyle>
        <a:fill>
          <a:solidFill>
            <a:srgbClr val="CDD4EA"/>
          </a:solidFill>
        </a:fill>
      </a:tcStyle>
    </a:band1V>
    <a:band2V>
      <a:tcTxStyle/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  <a:tblStyle styleId="{DF616524-15C5-4D9A-91EB-1304FC00AD3D}" styleName="Table_1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f15f109f44_4_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g3f15f109f44_4_0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5" name="Google Shape;55;g3f15f109f44_4_0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f15f109f44_4_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g3f15f109f44_4_9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4" name="Google Shape;64;g3f15f109f44_4_9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f15f109f44_4_3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g3f15f109f44_4_32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8" name="Google Shape;88;g3f15f109f44_4_32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f15f109f44_4_4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g3f15f109f44_4_4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9" name="Google Shape;99;g3f15f109f44_4_4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f15f109f44_4_11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g3f15f109f44_4_118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6" name="Google Shape;176;g3f15f109f44_4_118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f15f109f44_4_15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8" name="Google Shape;208;g3f15f109f44_4_150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9" name="Google Shape;209;g3f15f109f44_4_150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f15f109f44_4_16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6" name="Google Shape;226;g3f15f109f44_4_167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7" name="Google Shape;227;g3f15f109f44_4_167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f15f109f44_4_17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8" name="Google Shape;238;g3f15f109f44_4_178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9" name="Google Shape;239;g3f15f109f44_4_178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f15f109f44_4_203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g3f15f109f44_4_20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f15f109f44_4_211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g3f15f109f44_4_21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f15f109f44_0_0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g3f15f109f44_0_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f15f109f44_4_236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g3f15f109f44_4_23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f15f109f44_4_226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g3f15f109f44_4_22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f15f109f44_4_281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g3f15f109f44_4_28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f15f109f44_4_293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g3f15f109f44_4_29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f15f109f44_0_72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g3f15f109f44_0_7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f15f109f44_4_310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g3f15f109f44_4_31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f15f109f44_0_47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g3f15f109f44_0_4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f15f109f44_4_318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g3f15f109f44_4_31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3f15f109f44_0_87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g3f15f109f44_0_8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3f15f109f44_0_61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g3f15f109f44_0_6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3f15f109f44_0_137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g3f15f109f44_0_13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3f15f109f44_0_154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g3f15f109f44_0_15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3f15f109f44_4_329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g3f15f109f44_4_32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3f15f109f44_0_129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g3f15f109f44_0_12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3f15f109f44_4_346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g3f15f109f44_4_34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3f15f109f44_0_118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g3f15f109f44_0_11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3f15f109f44_4_354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g3f15f109f44_4_35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3f15f109f44_4_36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g3f15f109f44_4_36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3f15f109f44_4_37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6" name="Google Shape;476;g3f15f109f44_4_370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7" name="Google Shape;477;g3f15f109f44_4_370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3f15f109f44_4_37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4" name="Google Shape;484;g3f15f109f44_4_377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5" name="Google Shape;485;g3f15f109f44_4_377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g3f15f109f44_4_40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0" name="Google Shape;510;g3f15f109f44_4_40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11" name="Google Shape;511;g3f15f109f44_4_40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f15f109f44_4_41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9" name="Google Shape;519;g3f15f109f44_4_410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0" name="Google Shape;520;g3f15f109f44_4_410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g3f15f109f44_4_42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7" name="Google Shape;537;g3f15f109f44_4_427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8" name="Google Shape;538;g3f15f109f44_4_427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g3f15f109f44_4_45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8" name="Google Shape;568;g3f15f109f44_4_457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9" name="Google Shape;569;g3f15f109f44_4_457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g3f15f109f44_4_47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7" name="Google Shape;587;g3f15f109f44_4_475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88" name="Google Shape;588;g3f15f109f44_4_475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g3f15f109f44_4_49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4" name="Google Shape;604;g3f15f109f44_4_491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05" name="Google Shape;605;g3f15f109f44_4_491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g3f15f109f44_4_50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3" name="Google Shape;623;g3f15f109f44_4_509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24" name="Google Shape;624;g3f15f109f44_4_509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g3f15f109f44_2_35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8" name="Google Shape;628;g3f15f109f44_2_351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29" name="Google Shape;629;g3f15f109f44_2_351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://intrinsictimescales.jl" TargetMode="External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image" Target="../media/image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0.png"/><Relationship Id="rId4" Type="http://schemas.openxmlformats.org/officeDocument/2006/relationships/image" Target="../media/image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5.png"/><Relationship Id="rId4" Type="http://schemas.openxmlformats.org/officeDocument/2006/relationships/image" Target="../media/image1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7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3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4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A4A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6B8F71"/>
          </a:solidFill>
          <a:ln cap="flat" cmpd="sng" w="12700">
            <a:solidFill>
              <a:srgbClr val="6B8F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15"/>
          <p:cNvSpPr/>
          <p:nvPr/>
        </p:nvSpPr>
        <p:spPr>
          <a:xfrm>
            <a:off x="457200" y="1645920"/>
            <a:ext cx="82296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b="1" i="0" lang="en-GB" sz="4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DMT-Harmine &amp; Meditation Retreat Study</a:t>
            </a:r>
            <a:endParaRPr b="0" i="0" sz="4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15"/>
          <p:cNvSpPr/>
          <p:nvPr/>
        </p:nvSpPr>
        <p:spPr>
          <a:xfrm>
            <a:off x="457200" y="4160520"/>
            <a:ext cx="8321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AFC8"/>
              </a:buClr>
              <a:buSzPts val="950"/>
              <a:buFont typeface="Calibri"/>
              <a:buNone/>
            </a:pPr>
            <a:r>
              <a:rPr b="1" i="0" lang="en-GB" sz="950" u="none" cap="none" strike="noStrike">
                <a:solidFill>
                  <a:srgbClr val="8BAFC8"/>
                </a:solidFill>
                <a:latin typeface="Calibri"/>
                <a:ea typeface="Calibri"/>
                <a:cs typeface="Calibri"/>
                <a:sym typeface="Calibri"/>
              </a:rPr>
              <a:t>Egger et al., 2025  </a:t>
            </a:r>
            <a:r>
              <a:rPr b="0" i="0" lang="en-GB" sz="950" u="none" cap="none" strike="noStrike">
                <a:solidFill>
                  <a:srgbClr val="6A8499"/>
                </a:solidFill>
                <a:latin typeface="Calibri"/>
                <a:ea typeface="Calibri"/>
                <a:cs typeface="Calibri"/>
                <a:sym typeface="Calibri"/>
              </a:rPr>
              <a:t>Meditation, Psychedelics, and Brain Connectivity: A Randomised Controlled Resting-State fMRI Study of N,N-Dimethyltryptamine and Harmine in a Meditation Retreat. </a:t>
            </a:r>
            <a:r>
              <a:rPr b="0" i="1" lang="en-GB" sz="950" u="none" cap="none" strike="noStrike">
                <a:solidFill>
                  <a:srgbClr val="6A8499"/>
                </a:solidFill>
                <a:latin typeface="Calibri"/>
                <a:ea typeface="Calibri"/>
                <a:cs typeface="Calibri"/>
                <a:sym typeface="Calibri"/>
              </a:rPr>
              <a:t>Imaging Neuroscience</a:t>
            </a:r>
            <a:r>
              <a:rPr b="0" i="0" lang="en-GB" sz="950" u="none" cap="none" strike="noStrike">
                <a:solidFill>
                  <a:srgbClr val="6A8499"/>
                </a:solidFill>
                <a:latin typeface="Calibri"/>
                <a:ea typeface="Calibri"/>
                <a:cs typeface="Calibri"/>
                <a:sym typeface="Calibri"/>
              </a:rPr>
              <a:t> (2025). https://doi.org/10.1162/IMAG.a.907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15"/>
          <p:cNvSpPr/>
          <p:nvPr/>
        </p:nvSpPr>
        <p:spPr>
          <a:xfrm>
            <a:off x="457200" y="4572000"/>
            <a:ext cx="8321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AFC8"/>
              </a:buClr>
              <a:buSzPts val="950"/>
              <a:buFont typeface="Calibri"/>
              <a:buNone/>
            </a:pPr>
            <a:r>
              <a:rPr b="1" i="0" lang="en-GB" sz="950" u="none" cap="none" strike="noStrike">
                <a:solidFill>
                  <a:srgbClr val="8BAFC8"/>
                </a:solidFill>
                <a:latin typeface="Calibri"/>
                <a:ea typeface="Calibri"/>
                <a:cs typeface="Calibri"/>
                <a:sym typeface="Calibri"/>
              </a:rPr>
              <a:t>Meling et al., 2024  </a:t>
            </a:r>
            <a:r>
              <a:rPr b="0" i="0" lang="en-GB" sz="950" u="none" cap="none" strike="noStrike">
                <a:solidFill>
                  <a:srgbClr val="6A8499"/>
                </a:solidFill>
                <a:latin typeface="Calibri"/>
                <a:ea typeface="Calibri"/>
                <a:cs typeface="Calibri"/>
                <a:sym typeface="Calibri"/>
              </a:rPr>
              <a:t>Meditating on psychedelics. A randomized placebo-controlled study of DMT and harmine in a mindfulness retreat. </a:t>
            </a:r>
            <a:r>
              <a:rPr b="0" i="1" lang="en-GB" sz="950" u="none" cap="none" strike="noStrike">
                <a:solidFill>
                  <a:srgbClr val="6A8499"/>
                </a:solidFill>
                <a:latin typeface="Calibri"/>
                <a:ea typeface="Calibri"/>
                <a:cs typeface="Calibri"/>
                <a:sym typeface="Calibri"/>
              </a:rPr>
              <a:t>Journal of Psychopharmacology</a:t>
            </a:r>
            <a:r>
              <a:rPr b="0" i="0" lang="en-GB" sz="950" u="none" cap="none" strike="noStrike">
                <a:solidFill>
                  <a:srgbClr val="6A8499"/>
                </a:solidFill>
                <a:latin typeface="Calibri"/>
                <a:ea typeface="Calibri"/>
                <a:cs typeface="Calibri"/>
                <a:sym typeface="Calibri"/>
              </a:rPr>
              <a:t> (2024). https://doi.org/10.1177/02698811241282637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DF2F7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/>
          <p:nvPr/>
        </p:nvSpPr>
        <p:spPr>
          <a:xfrm>
            <a:off x="0" y="0"/>
            <a:ext cx="9144000" cy="77730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16"/>
          <p:cNvSpPr/>
          <p:nvPr/>
        </p:nvSpPr>
        <p:spPr>
          <a:xfrm>
            <a:off x="365760" y="0"/>
            <a:ext cx="18288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8F71"/>
              </a:buClr>
              <a:buSzPts val="1000"/>
              <a:buFont typeface="Calibri"/>
              <a:buNone/>
            </a:pPr>
            <a:r>
              <a:rPr b="1" i="0" lang="en-GB" sz="1000" u="none" cap="none" strike="noStrike">
                <a:solidFill>
                  <a:srgbClr val="6B8F71"/>
                </a:solidFill>
                <a:latin typeface="Calibri"/>
                <a:ea typeface="Calibri"/>
                <a:cs typeface="Calibri"/>
                <a:sym typeface="Calibri"/>
              </a:rPr>
              <a:t>OVERVIEW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16"/>
          <p:cNvSpPr/>
          <p:nvPr/>
        </p:nvSpPr>
        <p:spPr>
          <a:xfrm>
            <a:off x="365760" y="0"/>
            <a:ext cx="84126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GB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Design Overview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16"/>
          <p:cNvSpPr/>
          <p:nvPr/>
        </p:nvSpPr>
        <p:spPr>
          <a:xfrm>
            <a:off x="228570" y="1255850"/>
            <a:ext cx="4206300" cy="1600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CE8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6"/>
          <p:cNvSpPr/>
          <p:nvPr/>
        </p:nvSpPr>
        <p:spPr>
          <a:xfrm>
            <a:off x="228575" y="1255850"/>
            <a:ext cx="4206300" cy="409800"/>
          </a:xfrm>
          <a:prstGeom prst="rect">
            <a:avLst/>
          </a:prstGeom>
          <a:solidFill>
            <a:srgbClr val="2E4A6B"/>
          </a:solidFill>
          <a:ln cap="flat" cmpd="sng" w="12700">
            <a:solidFill>
              <a:srgbClr val="2E4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16"/>
          <p:cNvSpPr/>
          <p:nvPr/>
        </p:nvSpPr>
        <p:spPr>
          <a:xfrm>
            <a:off x="301725" y="1255850"/>
            <a:ext cx="4114800" cy="47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GB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Study Type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16"/>
          <p:cNvSpPr/>
          <p:nvPr/>
        </p:nvSpPr>
        <p:spPr>
          <a:xfrm>
            <a:off x="338300" y="1797050"/>
            <a:ext cx="4005000" cy="9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150"/>
              <a:buFont typeface="Calibri"/>
              <a:buNone/>
            </a:pPr>
            <a:r>
              <a:rPr b="0" i="0" lang="en-GB" sz="145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Double-blind, placebo-controlled crossover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150"/>
              <a:buFont typeface="Calibri"/>
              <a:buNone/>
            </a:pPr>
            <a:r>
              <a:rPr b="0" i="0" lang="en-GB" sz="145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DMT-harmine vs. placebo during a 3-day meditation retreat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16"/>
          <p:cNvSpPr/>
          <p:nvPr/>
        </p:nvSpPr>
        <p:spPr>
          <a:xfrm>
            <a:off x="4709130" y="1255850"/>
            <a:ext cx="4206300" cy="1600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CE8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6"/>
          <p:cNvSpPr/>
          <p:nvPr/>
        </p:nvSpPr>
        <p:spPr>
          <a:xfrm>
            <a:off x="4709125" y="1255850"/>
            <a:ext cx="4206300" cy="409800"/>
          </a:xfrm>
          <a:prstGeom prst="rect">
            <a:avLst/>
          </a:prstGeom>
          <a:solidFill>
            <a:srgbClr val="6B8F71"/>
          </a:solidFill>
          <a:ln cap="flat" cmpd="sng" w="12700">
            <a:solidFill>
              <a:srgbClr val="6B8F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16"/>
          <p:cNvSpPr/>
          <p:nvPr/>
        </p:nvSpPr>
        <p:spPr>
          <a:xfrm>
            <a:off x="4782275" y="1255850"/>
            <a:ext cx="4114800" cy="40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GB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Intervention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16"/>
          <p:cNvSpPr/>
          <p:nvPr/>
        </p:nvSpPr>
        <p:spPr>
          <a:xfrm>
            <a:off x="4818850" y="1797050"/>
            <a:ext cx="4005000" cy="9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150"/>
              <a:buFont typeface="Calibri"/>
              <a:buNone/>
            </a:pPr>
            <a:r>
              <a:rPr b="0" i="0" lang="en-GB" sz="145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Sublingual DMT hemisuccinate + harmine glucuronate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150"/>
              <a:buFont typeface="Calibri"/>
              <a:buNone/>
            </a:pPr>
            <a:r>
              <a:rPr b="0" i="0" lang="en-GB" sz="145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120 mg total DMT / session (4 × 30 mg every 30 min)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16"/>
          <p:cNvSpPr/>
          <p:nvPr/>
        </p:nvSpPr>
        <p:spPr>
          <a:xfrm>
            <a:off x="228570" y="3084650"/>
            <a:ext cx="4206300" cy="1600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CE8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16"/>
          <p:cNvSpPr/>
          <p:nvPr/>
        </p:nvSpPr>
        <p:spPr>
          <a:xfrm>
            <a:off x="228575" y="3084650"/>
            <a:ext cx="4206300" cy="409800"/>
          </a:xfrm>
          <a:prstGeom prst="rect">
            <a:avLst/>
          </a:prstGeom>
          <a:solidFill>
            <a:srgbClr val="2A7F8A"/>
          </a:solidFill>
          <a:ln cap="flat" cmpd="sng" w="12700">
            <a:solidFill>
              <a:srgbClr val="2A7F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16"/>
          <p:cNvSpPr/>
          <p:nvPr/>
        </p:nvSpPr>
        <p:spPr>
          <a:xfrm>
            <a:off x="301725" y="3084650"/>
            <a:ext cx="4114800" cy="40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GB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Setting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6"/>
          <p:cNvSpPr/>
          <p:nvPr/>
        </p:nvSpPr>
        <p:spPr>
          <a:xfrm>
            <a:off x="338300" y="3625900"/>
            <a:ext cx="4005000" cy="9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150"/>
              <a:buFont typeface="Calibri"/>
              <a:buNone/>
            </a:pPr>
            <a:r>
              <a:rPr b="0" i="0" lang="en-GB" sz="145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Structured 3-day retreat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150"/>
              <a:buFont typeface="Calibri"/>
              <a:buNone/>
            </a:pPr>
            <a:r>
              <a:rPr b="0" i="0" lang="en-GB" sz="145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Alternating sitting meditation → vitals → walking meditation cycles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6"/>
          <p:cNvSpPr/>
          <p:nvPr/>
        </p:nvSpPr>
        <p:spPr>
          <a:xfrm>
            <a:off x="4709130" y="3084650"/>
            <a:ext cx="4206300" cy="1600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CE8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6"/>
          <p:cNvSpPr/>
          <p:nvPr/>
        </p:nvSpPr>
        <p:spPr>
          <a:xfrm>
            <a:off x="4709125" y="3084650"/>
            <a:ext cx="4206300" cy="409800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16"/>
          <p:cNvSpPr/>
          <p:nvPr/>
        </p:nvSpPr>
        <p:spPr>
          <a:xfrm>
            <a:off x="4782275" y="3084650"/>
            <a:ext cx="4114800" cy="40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GB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Follow-Up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6"/>
          <p:cNvSpPr/>
          <p:nvPr/>
        </p:nvSpPr>
        <p:spPr>
          <a:xfrm>
            <a:off x="4818850" y="3625900"/>
            <a:ext cx="4005000" cy="9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150"/>
              <a:buFont typeface="Calibri"/>
              <a:buNone/>
            </a:pPr>
            <a:r>
              <a:rPr b="0" i="0" lang="en-GB" sz="145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Assessments at: baseline, day 1–3 (in-retreat), 1 day after, 1 week after, 1 month after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DF2F7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/>
          <p:nvPr/>
        </p:nvSpPr>
        <p:spPr>
          <a:xfrm>
            <a:off x="0" y="0"/>
            <a:ext cx="9144000" cy="77730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7"/>
          <p:cNvSpPr/>
          <p:nvPr/>
        </p:nvSpPr>
        <p:spPr>
          <a:xfrm>
            <a:off x="365760" y="0"/>
            <a:ext cx="18288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8F71"/>
              </a:buClr>
              <a:buSzPts val="1000"/>
              <a:buFont typeface="Calibri"/>
              <a:buNone/>
            </a:pPr>
            <a:r>
              <a:rPr b="1" i="0" lang="en-GB" sz="1000" u="none" cap="none" strike="noStrike">
                <a:solidFill>
                  <a:srgbClr val="6B8F71"/>
                </a:solidFill>
                <a:latin typeface="Calibri"/>
                <a:ea typeface="Calibri"/>
                <a:cs typeface="Calibri"/>
                <a:sym typeface="Calibri"/>
              </a:rPr>
              <a:t>OVERVIEW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7"/>
          <p:cNvSpPr/>
          <p:nvPr/>
        </p:nvSpPr>
        <p:spPr>
          <a:xfrm>
            <a:off x="365760" y="0"/>
            <a:ext cx="84126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GB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Design Overview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17" title="Screenshot 2026-04-17 at 19.17.4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50" y="1067725"/>
            <a:ext cx="8839200" cy="2600296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7"/>
          <p:cNvSpPr/>
          <p:nvPr/>
        </p:nvSpPr>
        <p:spPr>
          <a:xfrm>
            <a:off x="274345" y="3892815"/>
            <a:ext cx="8595300" cy="1097400"/>
          </a:xfrm>
          <a:prstGeom prst="rect">
            <a:avLst/>
          </a:prstGeom>
          <a:solidFill>
            <a:srgbClr val="EEF6F0"/>
          </a:solidFill>
          <a:ln cap="flat" cmpd="sng" w="12700">
            <a:solidFill>
              <a:srgbClr val="6B8F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7"/>
          <p:cNvSpPr/>
          <p:nvPr/>
        </p:nvSpPr>
        <p:spPr>
          <a:xfrm>
            <a:off x="274350" y="3883550"/>
            <a:ext cx="85041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100"/>
              <a:buFont typeface="Calibri"/>
              <a:buNone/>
            </a:pPr>
            <a:r>
              <a:rPr b="1" i="0" lang="en-GB" sz="110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Two cohorts started 1 day apart to accommodate scanner availability. </a:t>
            </a:r>
            <a:endParaRPr b="1" i="0" sz="1100" u="none" cap="none" strike="noStrike">
              <a:solidFill>
                <a:srgbClr val="1A23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100"/>
              <a:buFont typeface="Calibri"/>
              <a:buChar char="-"/>
            </a:pPr>
            <a:r>
              <a:rPr b="0" i="0" lang="en-GB" sz="110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The first cohort began on Day 0 and ended on Day 4 </a:t>
            </a:r>
            <a:endParaRPr b="0" i="0" sz="1100" u="none" cap="none" strike="noStrike">
              <a:solidFill>
                <a:srgbClr val="1A23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100"/>
              <a:buFont typeface="Calibri"/>
              <a:buChar char="-"/>
            </a:pPr>
            <a:r>
              <a:rPr b="0" i="0" lang="en-GB" sz="110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The second cohort began on Day 1 and finished on Day 5. 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DF2F7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8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8"/>
          <p:cNvSpPr/>
          <p:nvPr/>
        </p:nvSpPr>
        <p:spPr>
          <a:xfrm>
            <a:off x="365760" y="0"/>
            <a:ext cx="18288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8F71"/>
              </a:buClr>
              <a:buSzPts val="1000"/>
              <a:buFont typeface="Calibri"/>
              <a:buNone/>
            </a:pPr>
            <a:r>
              <a:rPr b="1" i="0" lang="en-GB" sz="1000" u="none" cap="none" strike="noStrike">
                <a:solidFill>
                  <a:srgbClr val="6B8F71"/>
                </a:solidFill>
                <a:latin typeface="Calibri"/>
                <a:ea typeface="Calibri"/>
                <a:cs typeface="Calibri"/>
                <a:sym typeface="Calibri"/>
              </a:rPr>
              <a:t>PROTOCOL — SCHEDULE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8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GB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Retreat Schedule Overview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4" name="Google Shape;104;p18"/>
          <p:cNvGrpSpPr/>
          <p:nvPr/>
        </p:nvGrpSpPr>
        <p:grpSpPr>
          <a:xfrm>
            <a:off x="-351755" y="22565"/>
            <a:ext cx="9259630" cy="5098360"/>
            <a:chOff x="218370" y="27790"/>
            <a:chExt cx="9259630" cy="5098360"/>
          </a:xfrm>
        </p:grpSpPr>
        <p:cxnSp>
          <p:nvCxnSpPr>
            <p:cNvPr id="105" name="Google Shape;105;p18"/>
            <p:cNvCxnSpPr/>
            <p:nvPr/>
          </p:nvCxnSpPr>
          <p:spPr>
            <a:xfrm>
              <a:off x="4010088" y="1219488"/>
              <a:ext cx="8400" cy="115830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dot"/>
              <a:round/>
              <a:headEnd len="sm" w="sm" type="none"/>
              <a:tailEnd len="sm" w="sm" type="none"/>
            </a:ln>
          </p:spPr>
        </p:cxnSp>
        <p:cxnSp>
          <p:nvCxnSpPr>
            <p:cNvPr id="106" name="Google Shape;106;p18"/>
            <p:cNvCxnSpPr>
              <a:stCxn id="107" idx="2"/>
            </p:cNvCxnSpPr>
            <p:nvPr/>
          </p:nvCxnSpPr>
          <p:spPr>
            <a:xfrm>
              <a:off x="576072" y="2377512"/>
              <a:ext cx="7659900" cy="900"/>
            </a:xfrm>
            <a:prstGeom prst="straightConnector1">
              <a:avLst/>
            </a:prstGeom>
            <a:noFill/>
            <a:ln cap="flat" cmpd="sng" w="25400">
              <a:solidFill>
                <a:srgbClr val="2E4A6B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07" name="Google Shape;107;p18"/>
            <p:cNvSpPr/>
            <p:nvPr/>
          </p:nvSpPr>
          <p:spPr>
            <a:xfrm>
              <a:off x="576072" y="2267712"/>
              <a:ext cx="219600" cy="219600"/>
            </a:xfrm>
            <a:prstGeom prst="ellipse">
              <a:avLst/>
            </a:prstGeom>
            <a:solidFill>
              <a:srgbClr val="2E4A6B"/>
            </a:solidFill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Google Shape;108;p18"/>
            <p:cNvSpPr/>
            <p:nvPr/>
          </p:nvSpPr>
          <p:spPr>
            <a:xfrm>
              <a:off x="739323" y="1709950"/>
              <a:ext cx="1097400" cy="82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A2332"/>
                </a:buClr>
                <a:buSzPts val="950"/>
                <a:buFont typeface="Calibri"/>
                <a:buNone/>
              </a:pPr>
              <a:r>
                <a:rPr b="1" i="0" lang="en-GB" sz="950" u="none" cap="none" strike="noStrike">
                  <a:solidFill>
                    <a:srgbClr val="1A2332"/>
                  </a:solidFill>
                  <a:latin typeface="Calibri"/>
                  <a:ea typeface="Calibri"/>
                  <a:cs typeface="Calibri"/>
                  <a:sym typeface="Calibri"/>
                </a:rPr>
                <a:t>1 Day</a:t>
              </a:r>
              <a:r>
                <a:rPr b="0" i="0" lang="en-GB" sz="95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b="1" i="0" lang="en-GB" sz="950" u="none" cap="none" strike="noStrike">
                  <a:solidFill>
                    <a:srgbClr val="1A2332"/>
                  </a:solidFill>
                  <a:latin typeface="Calibri"/>
                  <a:ea typeface="Calibri"/>
                  <a:cs typeface="Calibri"/>
                  <a:sym typeface="Calibri"/>
                </a:rPr>
                <a:t>Before</a:t>
              </a:r>
              <a:endParaRPr b="0" i="0" sz="9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18"/>
            <p:cNvSpPr/>
            <p:nvPr/>
          </p:nvSpPr>
          <p:spPr>
            <a:xfrm>
              <a:off x="218370" y="2776765"/>
              <a:ext cx="1280100" cy="82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A6A7A"/>
                </a:buClr>
                <a:buSzPts val="850"/>
                <a:buFont typeface="Calibri"/>
                <a:buNone/>
              </a:pPr>
              <a:r>
                <a:rPr b="1" i="0" lang="en-GB" sz="850" u="none" cap="none" strike="noStrike">
                  <a:solidFill>
                    <a:schemeClr val="accent4"/>
                  </a:solidFill>
                  <a:latin typeface="Calibri"/>
                  <a:ea typeface="Calibri"/>
                  <a:cs typeface="Calibri"/>
                  <a:sym typeface="Calibri"/>
                </a:rPr>
                <a:t>fMRI scan</a:t>
              </a:r>
              <a:endParaRPr b="1" i="0" sz="85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" name="Google Shape;110;p18"/>
            <p:cNvSpPr/>
            <p:nvPr/>
          </p:nvSpPr>
          <p:spPr>
            <a:xfrm>
              <a:off x="1739365" y="2271512"/>
              <a:ext cx="219600" cy="219600"/>
            </a:xfrm>
            <a:prstGeom prst="ellipse">
              <a:avLst/>
            </a:prstGeom>
            <a:solidFill>
              <a:srgbClr val="2E4A6B"/>
            </a:solidFill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p18"/>
            <p:cNvSpPr/>
            <p:nvPr/>
          </p:nvSpPr>
          <p:spPr>
            <a:xfrm>
              <a:off x="1935690" y="1709950"/>
              <a:ext cx="1097400" cy="82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A2332"/>
                </a:buClr>
                <a:buSzPts val="950"/>
                <a:buFont typeface="Calibri"/>
                <a:buNone/>
              </a:pPr>
              <a:r>
                <a:rPr b="1" i="0" lang="en-GB" sz="950" u="none" cap="none" strike="noStrike">
                  <a:solidFill>
                    <a:srgbClr val="1A2332"/>
                  </a:solidFill>
                  <a:latin typeface="Calibri"/>
                  <a:ea typeface="Calibri"/>
                  <a:cs typeface="Calibri"/>
                  <a:sym typeface="Calibri"/>
                </a:rPr>
                <a:t>Day 1</a:t>
              </a:r>
              <a:endParaRPr b="0" i="0" sz="9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12;p18"/>
            <p:cNvSpPr/>
            <p:nvPr/>
          </p:nvSpPr>
          <p:spPr>
            <a:xfrm>
              <a:off x="2956245" y="2267712"/>
              <a:ext cx="219600" cy="219600"/>
            </a:xfrm>
            <a:prstGeom prst="ellipse">
              <a:avLst/>
            </a:prstGeom>
            <a:solidFill>
              <a:srgbClr val="2E4A6B"/>
            </a:solidFill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p18"/>
            <p:cNvSpPr/>
            <p:nvPr/>
          </p:nvSpPr>
          <p:spPr>
            <a:xfrm>
              <a:off x="4268858" y="1657950"/>
              <a:ext cx="1097400" cy="82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A2332"/>
                </a:buClr>
                <a:buSzPts val="950"/>
                <a:buFont typeface="Calibri"/>
                <a:buNone/>
              </a:pPr>
              <a:r>
                <a:rPr b="1" i="0" lang="en-GB" sz="950" u="none" cap="none" strike="noStrike">
                  <a:solidFill>
                    <a:srgbClr val="1A2332"/>
                  </a:solidFill>
                  <a:latin typeface="Calibri"/>
                  <a:ea typeface="Calibri"/>
                  <a:cs typeface="Calibri"/>
                  <a:sym typeface="Calibri"/>
                </a:rPr>
                <a:t>Day 2</a:t>
              </a:r>
              <a:endParaRPr b="0" i="0" sz="9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A2332"/>
                </a:buClr>
                <a:buSzPts val="950"/>
                <a:buFont typeface="Calibri"/>
                <a:buNone/>
              </a:pPr>
              <a:r>
                <a:t/>
              </a:r>
              <a:endParaRPr b="0" i="0" sz="9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" name="Google Shape;114;p18"/>
            <p:cNvSpPr/>
            <p:nvPr/>
          </p:nvSpPr>
          <p:spPr>
            <a:xfrm>
              <a:off x="5737470" y="2267562"/>
              <a:ext cx="219600" cy="219600"/>
            </a:xfrm>
            <a:prstGeom prst="ellipse">
              <a:avLst/>
            </a:prstGeom>
            <a:solidFill>
              <a:srgbClr val="2E4A6B"/>
            </a:solidFill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18"/>
            <p:cNvSpPr/>
            <p:nvPr/>
          </p:nvSpPr>
          <p:spPr>
            <a:xfrm>
              <a:off x="6206138" y="1987288"/>
              <a:ext cx="512100" cy="37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A2332"/>
                </a:buClr>
                <a:buSzPts val="950"/>
                <a:buFont typeface="Calibri"/>
                <a:buNone/>
              </a:pPr>
              <a:r>
                <a:rPr b="1" i="0" lang="en-GB" sz="950" u="none" cap="none" strike="noStrike">
                  <a:solidFill>
                    <a:srgbClr val="1A2332"/>
                  </a:solidFill>
                  <a:latin typeface="Calibri"/>
                  <a:ea typeface="Calibri"/>
                  <a:cs typeface="Calibri"/>
                  <a:sym typeface="Calibri"/>
                </a:rPr>
                <a:t>Day 3</a:t>
              </a:r>
              <a:endParaRPr b="0" i="0" sz="9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A2332"/>
                </a:buClr>
                <a:buSzPts val="950"/>
                <a:buFont typeface="Calibri"/>
                <a:buNone/>
              </a:pPr>
              <a:r>
                <a:t/>
              </a:r>
              <a:endParaRPr b="0" i="0" sz="9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" name="Google Shape;116;p18"/>
            <p:cNvSpPr/>
            <p:nvPr/>
          </p:nvSpPr>
          <p:spPr>
            <a:xfrm>
              <a:off x="7049967" y="2267662"/>
              <a:ext cx="219600" cy="219600"/>
            </a:xfrm>
            <a:prstGeom prst="ellipse">
              <a:avLst/>
            </a:prstGeom>
            <a:solidFill>
              <a:srgbClr val="2E4A6B"/>
            </a:solidFill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p18"/>
            <p:cNvSpPr/>
            <p:nvPr/>
          </p:nvSpPr>
          <p:spPr>
            <a:xfrm>
              <a:off x="6905975" y="1709950"/>
              <a:ext cx="1405500" cy="82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A2332"/>
                </a:buClr>
                <a:buSzPts val="950"/>
                <a:buFont typeface="Calibri"/>
                <a:buNone/>
              </a:pPr>
              <a:r>
                <a:rPr b="1" i="0" lang="en-GB" sz="950" u="none" cap="none" strike="noStrike">
                  <a:solidFill>
                    <a:srgbClr val="1A2332"/>
                  </a:solidFill>
                  <a:latin typeface="Calibri"/>
                  <a:ea typeface="Calibri"/>
                  <a:cs typeface="Calibri"/>
                  <a:sym typeface="Calibri"/>
                </a:rPr>
                <a:t>1 Day</a:t>
              </a:r>
              <a:r>
                <a:rPr b="0" i="0" lang="en-GB" sz="95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b="1" i="0" lang="en-GB" sz="950" u="none" cap="none" strike="noStrike">
                  <a:solidFill>
                    <a:srgbClr val="1A2332"/>
                  </a:solidFill>
                  <a:latin typeface="Calibri"/>
                  <a:ea typeface="Calibri"/>
                  <a:cs typeface="Calibri"/>
                  <a:sym typeface="Calibri"/>
                </a:rPr>
                <a:t>After</a:t>
              </a:r>
              <a:endParaRPr b="0" i="0" sz="9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18" name="Google Shape;118;p18"/>
            <p:cNvCxnSpPr/>
            <p:nvPr/>
          </p:nvCxnSpPr>
          <p:spPr>
            <a:xfrm flipH="1" rot="10800000">
              <a:off x="7831575" y="2373300"/>
              <a:ext cx="1494600" cy="8100"/>
            </a:xfrm>
            <a:prstGeom prst="straightConnector1">
              <a:avLst/>
            </a:prstGeom>
            <a:noFill/>
            <a:ln cap="flat" cmpd="sng" w="25400">
              <a:solidFill>
                <a:srgbClr val="2E4A6B"/>
              </a:solidFill>
              <a:prstDash val="dot"/>
              <a:round/>
              <a:headEnd len="sm" w="sm" type="none"/>
              <a:tailEnd len="sm" w="sm" type="none"/>
            </a:ln>
          </p:spPr>
        </p:cxnSp>
        <p:cxnSp>
          <p:nvCxnSpPr>
            <p:cNvPr id="119" name="Google Shape;119;p18"/>
            <p:cNvCxnSpPr/>
            <p:nvPr/>
          </p:nvCxnSpPr>
          <p:spPr>
            <a:xfrm>
              <a:off x="845275" y="2321325"/>
              <a:ext cx="9600" cy="822300"/>
            </a:xfrm>
            <a:prstGeom prst="straightConnector1">
              <a:avLst/>
            </a:pr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0" name="Google Shape;120;p18"/>
            <p:cNvCxnSpPr/>
            <p:nvPr/>
          </p:nvCxnSpPr>
          <p:spPr>
            <a:xfrm>
              <a:off x="1362075" y="2333625"/>
              <a:ext cx="5100" cy="117690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1" name="Google Shape;121;p18"/>
            <p:cNvSpPr/>
            <p:nvPr/>
          </p:nvSpPr>
          <p:spPr>
            <a:xfrm>
              <a:off x="587250" y="3387375"/>
              <a:ext cx="2315400" cy="82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45720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A6A7A"/>
                </a:buClr>
                <a:buSzPts val="850"/>
                <a:buFont typeface="Calibri"/>
                <a:buNone/>
              </a:pPr>
              <a:r>
                <a:rPr b="1" i="0" lang="en-GB" sz="950" u="none" cap="none" strike="noStrike">
                  <a:solidFill>
                    <a:schemeClr val="accent2"/>
                  </a:solidFill>
                  <a:latin typeface="Calibri"/>
                  <a:ea typeface="Calibri"/>
                  <a:cs typeface="Calibri"/>
                  <a:sym typeface="Calibri"/>
                </a:rPr>
                <a:t>Questionnaires</a:t>
              </a:r>
              <a:endParaRPr b="1" i="0" sz="95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4572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50"/>
                <a:buFont typeface="Arial"/>
                <a:buNone/>
              </a:pPr>
              <a:r>
                <a:rPr b="0" i="0" lang="en-GB" sz="950" u="none" cap="none" strike="noStrike">
                  <a:solidFill>
                    <a:schemeClr val="accent2"/>
                  </a:solidFill>
                  <a:latin typeface="Calibri"/>
                  <a:ea typeface="Calibri"/>
                  <a:cs typeface="Calibri"/>
                  <a:sym typeface="Calibri"/>
                </a:rPr>
                <a:t>FMI-13 </a:t>
              </a:r>
              <a:endParaRPr b="0" i="0" sz="95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4572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50"/>
                <a:buFont typeface="Arial"/>
                <a:buNone/>
              </a:pPr>
              <a:r>
                <a:rPr b="0" i="0" lang="en-GB" sz="950" u="none" cap="none" strike="noStrike">
                  <a:solidFill>
                    <a:schemeClr val="accent2"/>
                  </a:solidFill>
                  <a:latin typeface="Calibri"/>
                  <a:ea typeface="Calibri"/>
                  <a:cs typeface="Calibri"/>
                  <a:sym typeface="Calibri"/>
                </a:rPr>
                <a:t>SOCS-O </a:t>
              </a:r>
              <a:endParaRPr b="0" i="0" sz="95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4572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50"/>
                <a:buFont typeface="Arial"/>
                <a:buNone/>
              </a:pPr>
              <a:r>
                <a:rPr b="0" i="0" lang="en-GB" sz="950" u="none" cap="none" strike="noStrike">
                  <a:solidFill>
                    <a:schemeClr val="accent2"/>
                  </a:solidFill>
                  <a:latin typeface="Calibri"/>
                  <a:ea typeface="Calibri"/>
                  <a:cs typeface="Calibri"/>
                  <a:sym typeface="Calibri"/>
                </a:rPr>
                <a:t>SOCS-S</a:t>
              </a:r>
              <a:endParaRPr b="0" i="0" sz="95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" name="Google Shape;122;p18"/>
            <p:cNvSpPr/>
            <p:nvPr/>
          </p:nvSpPr>
          <p:spPr>
            <a:xfrm rot="5400000">
              <a:off x="741558" y="2160290"/>
              <a:ext cx="1280100" cy="82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A6A7A"/>
                </a:buClr>
                <a:buSzPts val="850"/>
                <a:buFont typeface="Calibri"/>
                <a:buNone/>
              </a:pPr>
              <a:r>
                <a:t/>
              </a:r>
              <a:endParaRPr b="0" i="0" sz="7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23" name="Google Shape;123;p18"/>
            <p:cNvGrpSpPr/>
            <p:nvPr/>
          </p:nvGrpSpPr>
          <p:grpSpPr>
            <a:xfrm>
              <a:off x="1908350" y="2325752"/>
              <a:ext cx="2315400" cy="2401448"/>
              <a:chOff x="1908350" y="2325752"/>
              <a:chExt cx="2315400" cy="2401448"/>
            </a:xfrm>
          </p:grpSpPr>
          <p:cxnSp>
            <p:nvCxnSpPr>
              <p:cNvPr id="124" name="Google Shape;124;p18"/>
              <p:cNvCxnSpPr/>
              <p:nvPr/>
            </p:nvCxnSpPr>
            <p:spPr>
              <a:xfrm>
                <a:off x="2702725" y="2750350"/>
                <a:ext cx="300" cy="1125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125" name="Google Shape;125;p18"/>
              <p:cNvSpPr/>
              <p:nvPr/>
            </p:nvSpPr>
            <p:spPr>
              <a:xfrm>
                <a:off x="1908350" y="3904300"/>
                <a:ext cx="2315400" cy="82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45720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A6A7A"/>
                  </a:buClr>
                  <a:buSzPts val="850"/>
                  <a:buFont typeface="Calibri"/>
                  <a:buNone/>
                </a:pPr>
                <a:r>
                  <a:rPr b="1" i="0" lang="en-GB" sz="950" u="none" cap="none" strike="noStrike">
                    <a:solidFill>
                      <a:schemeClr val="accent2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Questionnaires</a:t>
                </a:r>
                <a:endParaRPr b="1" i="0" sz="950" u="none" cap="none" strike="noStrike">
                  <a:solidFill>
                    <a:schemeClr val="accent2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45720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50"/>
                  <a:buFont typeface="Arial"/>
                  <a:buNone/>
                </a:pPr>
                <a:r>
                  <a:rPr b="0" i="0" lang="en-GB" sz="950" u="none" cap="none" strike="noStrike">
                    <a:solidFill>
                      <a:schemeClr val="accent2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TMS-13</a:t>
                </a:r>
                <a:br>
                  <a:rPr b="0" i="0" lang="en-GB" sz="950" u="none" cap="none" strike="noStrike">
                    <a:solidFill>
                      <a:schemeClr val="accent2"/>
                    </a:solidFill>
                    <a:latin typeface="Calibri"/>
                    <a:ea typeface="Calibri"/>
                    <a:cs typeface="Calibri"/>
                    <a:sym typeface="Calibri"/>
                  </a:rPr>
                </a:br>
                <a:r>
                  <a:rPr b="0" i="0" lang="en-GB" sz="950" u="none" cap="none" strike="noStrike">
                    <a:solidFill>
                      <a:schemeClr val="accent2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PIS-6</a:t>
                </a:r>
                <a:br>
                  <a:rPr b="0" i="0" lang="en-GB" sz="950" u="none" cap="none" strike="noStrike">
                    <a:solidFill>
                      <a:schemeClr val="accent2"/>
                    </a:solidFill>
                    <a:latin typeface="Calibri"/>
                    <a:ea typeface="Calibri"/>
                    <a:cs typeface="Calibri"/>
                    <a:sym typeface="Calibri"/>
                  </a:rPr>
                </a:br>
                <a:r>
                  <a:rPr b="0" i="0" lang="en-GB" sz="950" u="none" cap="none" strike="noStrike">
                    <a:solidFill>
                      <a:schemeClr val="accent2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EBI</a:t>
                </a:r>
                <a:br>
                  <a:rPr b="0" i="0" lang="en-GB" sz="950" u="none" cap="none" strike="noStrike">
                    <a:solidFill>
                      <a:schemeClr val="accent2"/>
                    </a:solidFill>
                    <a:latin typeface="Calibri"/>
                    <a:ea typeface="Calibri"/>
                    <a:cs typeface="Calibri"/>
                    <a:sym typeface="Calibri"/>
                  </a:rPr>
                </a:br>
                <a:r>
                  <a:rPr b="0" i="0" lang="en-GB" sz="950" u="none" cap="none" strike="noStrike">
                    <a:solidFill>
                      <a:schemeClr val="accent2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MEQ30</a:t>
                </a:r>
                <a:br>
                  <a:rPr b="0" i="0" lang="en-GB" sz="950" u="none" cap="none" strike="noStrike">
                    <a:solidFill>
                      <a:schemeClr val="accent2"/>
                    </a:solidFill>
                    <a:latin typeface="Calibri"/>
                    <a:ea typeface="Calibri"/>
                    <a:cs typeface="Calibri"/>
                    <a:sym typeface="Calibri"/>
                  </a:rPr>
                </a:br>
                <a:r>
                  <a:rPr b="0" i="0" lang="en-GB" sz="950" u="none" cap="none" strike="noStrike">
                    <a:solidFill>
                      <a:schemeClr val="accent2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NADA-S</a:t>
                </a:r>
                <a:endParaRPr b="0" i="0" sz="950" u="none" cap="none" strike="noStrike">
                  <a:solidFill>
                    <a:schemeClr val="accent2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26" name="Google Shape;126;p18"/>
              <p:cNvGrpSpPr/>
              <p:nvPr/>
            </p:nvGrpSpPr>
            <p:grpSpPr>
              <a:xfrm>
                <a:off x="2565722" y="2325752"/>
                <a:ext cx="281100" cy="492000"/>
                <a:chOff x="2180472" y="2321202"/>
                <a:chExt cx="281100" cy="492000"/>
              </a:xfrm>
            </p:grpSpPr>
            <p:sp>
              <p:nvSpPr>
                <p:cNvPr id="127" name="Google Shape;127;p18"/>
                <p:cNvSpPr/>
                <p:nvPr/>
              </p:nvSpPr>
              <p:spPr>
                <a:xfrm rot="5400000">
                  <a:off x="2075022" y="2426652"/>
                  <a:ext cx="492000" cy="281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5A6A7A"/>
                    </a:buClr>
                    <a:buSzPts val="850"/>
                    <a:buFont typeface="Calibri"/>
                    <a:buNone/>
                  </a:pPr>
                  <a:r>
                    <a:rPr b="0" i="0" lang="en-GB" sz="750" u="none" cap="none" strike="noStrike">
                      <a:solidFill>
                        <a:schemeClr val="dk2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18.30</a:t>
                  </a:r>
                  <a:endParaRPr b="0" i="0" sz="750" u="none" cap="none" strike="noStrike">
                    <a:solidFill>
                      <a:schemeClr val="dk2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128" name="Google Shape;128;p18"/>
                <p:cNvCxnSpPr/>
                <p:nvPr/>
              </p:nvCxnSpPr>
              <p:spPr>
                <a:xfrm>
                  <a:off x="2314013" y="2324850"/>
                  <a:ext cx="0" cy="1038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</p:grpSp>
        <p:sp>
          <p:nvSpPr>
            <p:cNvPr id="129" name="Google Shape;129;p18"/>
            <p:cNvSpPr/>
            <p:nvPr/>
          </p:nvSpPr>
          <p:spPr>
            <a:xfrm>
              <a:off x="3175620" y="27790"/>
              <a:ext cx="1280100" cy="82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A6A7A"/>
                </a:buClr>
                <a:buSzPts val="850"/>
                <a:buFont typeface="Calibri"/>
                <a:buNone/>
              </a:pPr>
              <a:r>
                <a:t/>
              </a:r>
              <a:endParaRPr b="0" i="0" sz="85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30" name="Google Shape;130;p18"/>
            <p:cNvCxnSpPr/>
            <p:nvPr/>
          </p:nvCxnSpPr>
          <p:spPr>
            <a:xfrm>
              <a:off x="3667888" y="2329400"/>
              <a:ext cx="0" cy="103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31" name="Google Shape;131;p18"/>
            <p:cNvSpPr/>
            <p:nvPr/>
          </p:nvSpPr>
          <p:spPr>
            <a:xfrm rot="5400000">
              <a:off x="3457300" y="2485500"/>
              <a:ext cx="454500" cy="11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A6A7A"/>
                </a:buClr>
                <a:buSzPts val="850"/>
                <a:buFont typeface="Calibri"/>
                <a:buNone/>
              </a:pPr>
              <a:r>
                <a:rPr b="0" i="0" lang="en-GB" sz="750" u="none" cap="none" strike="noStrike">
                  <a:solidFill>
                    <a:schemeClr val="accent6"/>
                  </a:solidFill>
                  <a:latin typeface="Calibri"/>
                  <a:ea typeface="Calibri"/>
                  <a:cs typeface="Calibri"/>
                  <a:sym typeface="Calibri"/>
                </a:rPr>
                <a:t>10:30</a:t>
              </a:r>
              <a:endParaRPr b="0" i="0" sz="75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" name="Google Shape;132;p18"/>
            <p:cNvSpPr/>
            <p:nvPr/>
          </p:nvSpPr>
          <p:spPr>
            <a:xfrm rot="5400000">
              <a:off x="3547238" y="2463600"/>
              <a:ext cx="480000" cy="15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A6A7A"/>
                </a:buClr>
                <a:buSzPts val="850"/>
                <a:buFont typeface="Calibri"/>
                <a:buNone/>
              </a:pPr>
              <a:r>
                <a:rPr b="0" i="0" lang="en-GB" sz="750" u="none" cap="none" strike="noStrike">
                  <a:solidFill>
                    <a:schemeClr val="accent6"/>
                  </a:solidFill>
                  <a:latin typeface="Calibri"/>
                  <a:ea typeface="Calibri"/>
                  <a:cs typeface="Calibri"/>
                  <a:sym typeface="Calibri"/>
                </a:rPr>
                <a:t>11:00</a:t>
              </a:r>
              <a:endParaRPr b="0" i="0" sz="75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33" name="Google Shape;133;p18"/>
            <p:cNvCxnSpPr/>
            <p:nvPr/>
          </p:nvCxnSpPr>
          <p:spPr>
            <a:xfrm>
              <a:off x="3886750" y="2329400"/>
              <a:ext cx="0" cy="103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34" name="Google Shape;134;p18"/>
            <p:cNvSpPr/>
            <p:nvPr/>
          </p:nvSpPr>
          <p:spPr>
            <a:xfrm rot="5400000">
              <a:off x="3634950" y="2476050"/>
              <a:ext cx="508800" cy="12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A6A7A"/>
                </a:buClr>
                <a:buSzPts val="850"/>
                <a:buFont typeface="Calibri"/>
                <a:buNone/>
              </a:pPr>
              <a:r>
                <a:rPr b="0" i="0" lang="en-GB" sz="750" u="none" cap="none" strike="noStrike">
                  <a:solidFill>
                    <a:schemeClr val="accent6"/>
                  </a:solidFill>
                  <a:latin typeface="Calibri"/>
                  <a:ea typeface="Calibri"/>
                  <a:cs typeface="Calibri"/>
                  <a:sym typeface="Calibri"/>
                </a:rPr>
                <a:t>11:30</a:t>
              </a:r>
              <a:endParaRPr b="0" i="0" sz="75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35" name="Google Shape;135;p18"/>
            <p:cNvCxnSpPr/>
            <p:nvPr/>
          </p:nvCxnSpPr>
          <p:spPr>
            <a:xfrm>
              <a:off x="4000600" y="2325450"/>
              <a:ext cx="0" cy="103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36" name="Google Shape;136;p18"/>
            <p:cNvSpPr/>
            <p:nvPr/>
          </p:nvSpPr>
          <p:spPr>
            <a:xfrm rot="5400000">
              <a:off x="3780225" y="2470950"/>
              <a:ext cx="450600" cy="14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A6A7A"/>
                </a:buClr>
                <a:buSzPts val="850"/>
                <a:buFont typeface="Calibri"/>
                <a:buNone/>
              </a:pPr>
              <a:r>
                <a:rPr b="0" i="0" lang="en-GB" sz="750" u="none" cap="none" strike="noStrike">
                  <a:solidFill>
                    <a:schemeClr val="accent6"/>
                  </a:solidFill>
                  <a:latin typeface="Calibri"/>
                  <a:ea typeface="Calibri"/>
                  <a:cs typeface="Calibri"/>
                  <a:sym typeface="Calibri"/>
                </a:rPr>
                <a:t>12:00</a:t>
              </a:r>
              <a:endParaRPr b="0" i="0" sz="75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" name="Google Shape;137;p18"/>
            <p:cNvSpPr/>
            <p:nvPr/>
          </p:nvSpPr>
          <p:spPr>
            <a:xfrm rot="-5400000">
              <a:off x="3782675" y="2430600"/>
              <a:ext cx="130800" cy="544500"/>
            </a:xfrm>
            <a:prstGeom prst="leftBrace">
              <a:avLst>
                <a:gd fmla="val 50000" name="adj1"/>
                <a:gd fmla="val 51561" name="adj2"/>
              </a:avLst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" name="Google Shape;138;p18"/>
            <p:cNvSpPr/>
            <p:nvPr/>
          </p:nvSpPr>
          <p:spPr>
            <a:xfrm>
              <a:off x="3249300" y="2814793"/>
              <a:ext cx="1280100" cy="21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A6A7A"/>
                </a:buClr>
                <a:buSzPts val="850"/>
                <a:buFont typeface="Calibri"/>
                <a:buNone/>
              </a:pPr>
              <a:r>
                <a:rPr b="1" i="0" lang="en-GB" sz="850" u="none" cap="none" strike="noStrike">
                  <a:solidFill>
                    <a:schemeClr val="accent6"/>
                  </a:solidFill>
                  <a:latin typeface="Calibri"/>
                  <a:ea typeface="Calibri"/>
                  <a:cs typeface="Calibri"/>
                  <a:sym typeface="Calibri"/>
                </a:rPr>
                <a:t>DMT + Harmine Administration</a:t>
              </a:r>
              <a:endParaRPr b="1" i="0" sz="85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39" name="Google Shape;139;p18"/>
            <p:cNvCxnSpPr/>
            <p:nvPr/>
          </p:nvCxnSpPr>
          <p:spPr>
            <a:xfrm>
              <a:off x="3662843" y="1211932"/>
              <a:ext cx="24900" cy="112050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dot"/>
              <a:round/>
              <a:headEnd len="sm" w="sm" type="none"/>
              <a:tailEnd len="sm" w="sm" type="none"/>
            </a:ln>
          </p:spPr>
        </p:cxnSp>
        <p:cxnSp>
          <p:nvCxnSpPr>
            <p:cNvPr id="140" name="Google Shape;140;p18"/>
            <p:cNvCxnSpPr/>
            <p:nvPr/>
          </p:nvCxnSpPr>
          <p:spPr>
            <a:xfrm>
              <a:off x="3797025" y="1214525"/>
              <a:ext cx="1500" cy="116820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dot"/>
              <a:round/>
              <a:headEnd len="sm" w="sm" type="none"/>
              <a:tailEnd len="sm" w="sm" type="none"/>
            </a:ln>
          </p:spPr>
        </p:cxnSp>
        <p:cxnSp>
          <p:nvCxnSpPr>
            <p:cNvPr id="141" name="Google Shape;141;p18"/>
            <p:cNvCxnSpPr/>
            <p:nvPr/>
          </p:nvCxnSpPr>
          <p:spPr>
            <a:xfrm>
              <a:off x="3906900" y="1187175"/>
              <a:ext cx="8400" cy="117000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dot"/>
              <a:round/>
              <a:headEnd len="sm" w="sm" type="none"/>
              <a:tailEnd len="sm" w="sm" type="none"/>
            </a:ln>
          </p:spPr>
        </p:cxnSp>
        <p:cxnSp>
          <p:nvCxnSpPr>
            <p:cNvPr id="142" name="Google Shape;142;p18"/>
            <p:cNvCxnSpPr/>
            <p:nvPr/>
          </p:nvCxnSpPr>
          <p:spPr>
            <a:xfrm>
              <a:off x="4248388" y="1217838"/>
              <a:ext cx="2100" cy="116160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dot"/>
              <a:round/>
              <a:headEnd len="sm" w="sm" type="none"/>
              <a:tailEnd len="sm" w="sm" type="none"/>
            </a:ln>
          </p:spPr>
        </p:cxnSp>
        <p:cxnSp>
          <p:nvCxnSpPr>
            <p:cNvPr id="143" name="Google Shape;143;p18"/>
            <p:cNvCxnSpPr/>
            <p:nvPr/>
          </p:nvCxnSpPr>
          <p:spPr>
            <a:xfrm>
              <a:off x="4488963" y="1168125"/>
              <a:ext cx="6300" cy="116430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dot"/>
              <a:round/>
              <a:headEnd len="sm" w="sm" type="none"/>
              <a:tailEnd len="sm" w="sm" type="none"/>
            </a:ln>
          </p:spPr>
        </p:cxnSp>
        <p:cxnSp>
          <p:nvCxnSpPr>
            <p:cNvPr id="144" name="Google Shape;144;p18"/>
            <p:cNvCxnSpPr/>
            <p:nvPr/>
          </p:nvCxnSpPr>
          <p:spPr>
            <a:xfrm>
              <a:off x="4719588" y="1214550"/>
              <a:ext cx="4200" cy="116820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dot"/>
              <a:round/>
              <a:headEnd len="sm" w="sm" type="none"/>
              <a:tailEnd len="sm" w="sm" type="none"/>
            </a:ln>
          </p:spPr>
        </p:cxnSp>
        <p:sp>
          <p:nvSpPr>
            <p:cNvPr id="145" name="Google Shape;145;p18"/>
            <p:cNvSpPr/>
            <p:nvPr/>
          </p:nvSpPr>
          <p:spPr>
            <a:xfrm>
              <a:off x="3667900" y="779950"/>
              <a:ext cx="1280100" cy="44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A6A7A"/>
                </a:buClr>
                <a:buSzPts val="850"/>
                <a:buFont typeface="Calibri"/>
                <a:buNone/>
              </a:pPr>
              <a:r>
                <a:rPr b="1" i="0" lang="en-GB" sz="950" u="none" cap="none" strike="noStrike">
                  <a:solidFill>
                    <a:schemeClr val="accent2"/>
                  </a:solidFill>
                  <a:latin typeface="Calibri"/>
                  <a:ea typeface="Calibri"/>
                  <a:cs typeface="Calibri"/>
                  <a:sym typeface="Calibri"/>
                </a:rPr>
                <a:t>Acute Psychometry</a:t>
              </a:r>
              <a:endParaRPr b="1" i="0" sz="95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p18"/>
            <p:cNvSpPr/>
            <p:nvPr/>
          </p:nvSpPr>
          <p:spPr>
            <a:xfrm rot="5400000">
              <a:off x="4150125" y="544900"/>
              <a:ext cx="130800" cy="1230900"/>
            </a:xfrm>
            <a:prstGeom prst="leftBrace">
              <a:avLst>
                <a:gd fmla="val 50000" name="adj1"/>
                <a:gd fmla="val 50000" name="adj2"/>
              </a:avLst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47" name="Google Shape;147;p18"/>
            <p:cNvCxnSpPr/>
            <p:nvPr/>
          </p:nvCxnSpPr>
          <p:spPr>
            <a:xfrm>
              <a:off x="3771150" y="2329388"/>
              <a:ext cx="0" cy="103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48" name="Google Shape;148;p18"/>
            <p:cNvSpPr/>
            <p:nvPr/>
          </p:nvSpPr>
          <p:spPr>
            <a:xfrm rot="5400000">
              <a:off x="4349225" y="2501700"/>
              <a:ext cx="450600" cy="14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A6A7A"/>
                </a:buClr>
                <a:buSzPts val="850"/>
                <a:buFont typeface="Calibri"/>
                <a:buNone/>
              </a:pPr>
              <a:r>
                <a:rPr b="0" i="0" lang="en-GB" sz="750" u="none" cap="none" strike="noStrik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14:30</a:t>
              </a:r>
              <a:endParaRPr b="0" i="0" sz="7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" name="Google Shape;149;p18"/>
            <p:cNvSpPr/>
            <p:nvPr/>
          </p:nvSpPr>
          <p:spPr>
            <a:xfrm rot="5400000">
              <a:off x="4792850" y="2501700"/>
              <a:ext cx="450600" cy="14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A6A7A"/>
                </a:buClr>
                <a:buSzPts val="850"/>
                <a:buFont typeface="Calibri"/>
                <a:buNone/>
              </a:pPr>
              <a:r>
                <a:rPr b="0" i="0" lang="en-GB" sz="750" u="none" cap="none" strike="noStrike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rPr>
                <a:t>16:30</a:t>
              </a:r>
              <a:endParaRPr b="0" i="0" sz="7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50" name="Google Shape;150;p18"/>
            <p:cNvCxnSpPr/>
            <p:nvPr/>
          </p:nvCxnSpPr>
          <p:spPr>
            <a:xfrm>
              <a:off x="4693088" y="2329400"/>
              <a:ext cx="0" cy="103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1" name="Google Shape;151;p18"/>
            <p:cNvCxnSpPr/>
            <p:nvPr/>
          </p:nvCxnSpPr>
          <p:spPr>
            <a:xfrm>
              <a:off x="4230038" y="2341100"/>
              <a:ext cx="0" cy="103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2" name="Google Shape;152;p18"/>
            <p:cNvCxnSpPr/>
            <p:nvPr/>
          </p:nvCxnSpPr>
          <p:spPr>
            <a:xfrm>
              <a:off x="4460138" y="2325450"/>
              <a:ext cx="0" cy="103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3" name="Google Shape;153;p18"/>
            <p:cNvCxnSpPr/>
            <p:nvPr/>
          </p:nvCxnSpPr>
          <p:spPr>
            <a:xfrm>
              <a:off x="4568913" y="2325450"/>
              <a:ext cx="0" cy="103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4" name="Google Shape;154;p18"/>
            <p:cNvCxnSpPr/>
            <p:nvPr/>
          </p:nvCxnSpPr>
          <p:spPr>
            <a:xfrm>
              <a:off x="5029913" y="2329400"/>
              <a:ext cx="0" cy="103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5" name="Google Shape;155;p18"/>
            <p:cNvCxnSpPr/>
            <p:nvPr/>
          </p:nvCxnSpPr>
          <p:spPr>
            <a:xfrm>
              <a:off x="4565763" y="2706175"/>
              <a:ext cx="6300" cy="116430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6" name="Google Shape;156;p18"/>
            <p:cNvCxnSpPr/>
            <p:nvPr/>
          </p:nvCxnSpPr>
          <p:spPr>
            <a:xfrm>
              <a:off x="5028713" y="2721525"/>
              <a:ext cx="7800" cy="115020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57" name="Google Shape;157;p18"/>
            <p:cNvSpPr txBox="1"/>
            <p:nvPr/>
          </p:nvSpPr>
          <p:spPr>
            <a:xfrm>
              <a:off x="3935475" y="3917750"/>
              <a:ext cx="3000000" cy="120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45720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50"/>
                <a:buFont typeface="Arial"/>
                <a:buNone/>
              </a:pPr>
              <a:r>
                <a:rPr b="1" i="0" lang="en-GB" sz="950" u="none" cap="none" strike="noStrike">
                  <a:solidFill>
                    <a:schemeClr val="accent2"/>
                  </a:solidFill>
                  <a:latin typeface="Calibri"/>
                  <a:ea typeface="Calibri"/>
                  <a:cs typeface="Calibri"/>
                  <a:sym typeface="Calibri"/>
                </a:rPr>
                <a:t>Questionnaires</a:t>
              </a:r>
              <a:endParaRPr b="1" i="0" sz="95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4572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0" i="0" lang="en-GB" sz="950" u="none" cap="none" strike="noStrike">
                  <a:solidFill>
                    <a:schemeClr val="accent2"/>
                  </a:solidFill>
                  <a:latin typeface="Calibri"/>
                  <a:ea typeface="Calibri"/>
                  <a:cs typeface="Calibri"/>
                  <a:sym typeface="Calibri"/>
                </a:rPr>
                <a:t>TMS-13</a:t>
              </a:r>
              <a:br>
                <a:rPr b="0" i="0" lang="en-GB" sz="950" u="none" cap="none" strike="noStrike">
                  <a:solidFill>
                    <a:schemeClr val="accent2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GB" sz="950" u="none" cap="none" strike="noStrike">
                  <a:solidFill>
                    <a:schemeClr val="accent2"/>
                  </a:solidFill>
                  <a:latin typeface="Calibri"/>
                  <a:ea typeface="Calibri"/>
                  <a:cs typeface="Calibri"/>
                  <a:sym typeface="Calibri"/>
                </a:rPr>
                <a:t>PIS-6</a:t>
              </a:r>
              <a:br>
                <a:rPr b="0" i="0" lang="en-GB" sz="950" u="none" cap="none" strike="noStrike">
                  <a:solidFill>
                    <a:schemeClr val="accent2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GB" sz="950" u="none" cap="none" strike="noStrike">
                  <a:solidFill>
                    <a:schemeClr val="accent2"/>
                  </a:solidFill>
                  <a:latin typeface="Calibri"/>
                  <a:ea typeface="Calibri"/>
                  <a:cs typeface="Calibri"/>
                  <a:sym typeface="Calibri"/>
                </a:rPr>
                <a:t>EBI</a:t>
              </a:r>
              <a:br>
                <a:rPr b="0" i="0" lang="en-GB" sz="950" u="none" cap="none" strike="noStrike">
                  <a:solidFill>
                    <a:schemeClr val="accent2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GB" sz="950" u="none" cap="none" strike="noStrike">
                  <a:solidFill>
                    <a:schemeClr val="accent2"/>
                  </a:solidFill>
                  <a:latin typeface="Calibri"/>
                  <a:ea typeface="Calibri"/>
                  <a:cs typeface="Calibri"/>
                  <a:sym typeface="Calibri"/>
                </a:rPr>
                <a:t>MEQ30</a:t>
              </a:r>
              <a:br>
                <a:rPr b="0" i="0" lang="en-GB" sz="950" u="none" cap="none" strike="noStrike">
                  <a:solidFill>
                    <a:schemeClr val="accent2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GB" sz="950" u="none" cap="none" strike="noStrike">
                  <a:solidFill>
                    <a:schemeClr val="accent2"/>
                  </a:solidFill>
                  <a:latin typeface="Calibri"/>
                  <a:ea typeface="Calibri"/>
                  <a:cs typeface="Calibri"/>
                  <a:sym typeface="Calibri"/>
                </a:rPr>
                <a:t>NADA-S</a:t>
              </a:r>
              <a:endParaRPr b="0" i="0" sz="95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45720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50"/>
                <a:buFont typeface="Arial"/>
                <a:buNone/>
              </a:pPr>
              <a:r>
                <a:t/>
              </a:r>
              <a:endParaRPr b="0" i="0" sz="95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58" name="Google Shape;158;p18"/>
            <p:cNvGrpSpPr/>
            <p:nvPr/>
          </p:nvGrpSpPr>
          <p:grpSpPr>
            <a:xfrm>
              <a:off x="6149550" y="2325752"/>
              <a:ext cx="2315400" cy="2474798"/>
              <a:chOff x="1908350" y="2325752"/>
              <a:chExt cx="2315400" cy="2474798"/>
            </a:xfrm>
          </p:grpSpPr>
          <p:cxnSp>
            <p:nvCxnSpPr>
              <p:cNvPr id="159" name="Google Shape;159;p18"/>
              <p:cNvCxnSpPr/>
              <p:nvPr/>
            </p:nvCxnSpPr>
            <p:spPr>
              <a:xfrm>
                <a:off x="2702725" y="2750350"/>
                <a:ext cx="300" cy="1125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160" name="Google Shape;160;p18"/>
              <p:cNvSpPr/>
              <p:nvPr/>
            </p:nvSpPr>
            <p:spPr>
              <a:xfrm>
                <a:off x="1908350" y="3977650"/>
                <a:ext cx="2315400" cy="82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45720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b="1" i="0" lang="en-GB" sz="950" u="none" cap="none" strike="noStrike">
                    <a:solidFill>
                      <a:schemeClr val="accent2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Questionnaires</a:t>
                </a:r>
                <a:endParaRPr b="1" i="0" sz="950" u="none" cap="none" strike="noStrike">
                  <a:solidFill>
                    <a:schemeClr val="accent2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45720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b="0" i="0" lang="en-GB" sz="950" u="none" cap="none" strike="noStrike">
                    <a:solidFill>
                      <a:schemeClr val="accent2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TMS-13</a:t>
                </a:r>
                <a:br>
                  <a:rPr b="0" i="0" lang="en-GB" sz="950" u="none" cap="none" strike="noStrike">
                    <a:solidFill>
                      <a:schemeClr val="accent2"/>
                    </a:solidFill>
                    <a:latin typeface="Calibri"/>
                    <a:ea typeface="Calibri"/>
                    <a:cs typeface="Calibri"/>
                    <a:sym typeface="Calibri"/>
                  </a:rPr>
                </a:br>
                <a:r>
                  <a:rPr b="0" i="0" lang="en-GB" sz="950" u="none" cap="none" strike="noStrike">
                    <a:solidFill>
                      <a:schemeClr val="accent2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PIS-6</a:t>
                </a:r>
                <a:br>
                  <a:rPr b="0" i="0" lang="en-GB" sz="950" u="none" cap="none" strike="noStrike">
                    <a:solidFill>
                      <a:schemeClr val="accent2"/>
                    </a:solidFill>
                    <a:latin typeface="Calibri"/>
                    <a:ea typeface="Calibri"/>
                    <a:cs typeface="Calibri"/>
                    <a:sym typeface="Calibri"/>
                  </a:rPr>
                </a:br>
                <a:r>
                  <a:rPr b="0" i="0" lang="en-GB" sz="950" u="none" cap="none" strike="noStrike">
                    <a:solidFill>
                      <a:schemeClr val="accent2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EBI</a:t>
                </a:r>
                <a:br>
                  <a:rPr b="0" i="0" lang="en-GB" sz="950" u="none" cap="none" strike="noStrike">
                    <a:solidFill>
                      <a:schemeClr val="accent2"/>
                    </a:solidFill>
                    <a:latin typeface="Calibri"/>
                    <a:ea typeface="Calibri"/>
                    <a:cs typeface="Calibri"/>
                    <a:sym typeface="Calibri"/>
                  </a:rPr>
                </a:br>
                <a:r>
                  <a:rPr b="0" i="0" lang="en-GB" sz="950" u="none" cap="none" strike="noStrike">
                    <a:solidFill>
                      <a:schemeClr val="accent2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MEQ30</a:t>
                </a:r>
                <a:br>
                  <a:rPr b="0" i="0" lang="en-GB" sz="950" u="none" cap="none" strike="noStrike">
                    <a:solidFill>
                      <a:schemeClr val="accent2"/>
                    </a:solidFill>
                    <a:latin typeface="Calibri"/>
                    <a:ea typeface="Calibri"/>
                    <a:cs typeface="Calibri"/>
                    <a:sym typeface="Calibri"/>
                  </a:rPr>
                </a:br>
                <a:r>
                  <a:rPr b="0" i="0" lang="en-GB" sz="950" u="none" cap="none" strike="noStrike">
                    <a:solidFill>
                      <a:schemeClr val="accent2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NADA-S</a:t>
                </a:r>
                <a:endParaRPr b="0" i="0" sz="950" u="none" cap="none" strike="noStrike">
                  <a:solidFill>
                    <a:schemeClr val="accent2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45720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50"/>
                  <a:buFont typeface="Arial"/>
                  <a:buNone/>
                </a:pPr>
                <a:r>
                  <a:t/>
                </a:r>
                <a:endParaRPr b="0" i="0" sz="950" u="none" cap="none" strike="noStrike">
                  <a:solidFill>
                    <a:schemeClr val="accent2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61" name="Google Shape;161;p18"/>
              <p:cNvGrpSpPr/>
              <p:nvPr/>
            </p:nvGrpSpPr>
            <p:grpSpPr>
              <a:xfrm>
                <a:off x="2565722" y="2325752"/>
                <a:ext cx="281100" cy="492000"/>
                <a:chOff x="2180472" y="2321202"/>
                <a:chExt cx="281100" cy="492000"/>
              </a:xfrm>
            </p:grpSpPr>
            <p:sp>
              <p:nvSpPr>
                <p:cNvPr id="162" name="Google Shape;162;p18"/>
                <p:cNvSpPr/>
                <p:nvPr/>
              </p:nvSpPr>
              <p:spPr>
                <a:xfrm rot="5400000">
                  <a:off x="2075022" y="2426652"/>
                  <a:ext cx="492000" cy="281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5A6A7A"/>
                    </a:buClr>
                    <a:buSzPts val="850"/>
                    <a:buFont typeface="Calibri"/>
                    <a:buNone/>
                  </a:pPr>
                  <a:r>
                    <a:rPr b="0" i="0" lang="en-GB" sz="750" u="none" cap="none" strike="noStrike">
                      <a:solidFill>
                        <a:schemeClr val="dk2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18.30</a:t>
                  </a:r>
                  <a:endParaRPr b="0" i="0" sz="750" u="none" cap="none" strike="noStrike">
                    <a:solidFill>
                      <a:schemeClr val="dk2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163" name="Google Shape;163;p18"/>
                <p:cNvCxnSpPr/>
                <p:nvPr/>
              </p:nvCxnSpPr>
              <p:spPr>
                <a:xfrm>
                  <a:off x="2314013" y="2324850"/>
                  <a:ext cx="0" cy="1038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</p:grpSp>
        <p:sp>
          <p:nvSpPr>
            <p:cNvPr id="164" name="Google Shape;164;p18"/>
            <p:cNvSpPr/>
            <p:nvPr/>
          </p:nvSpPr>
          <p:spPr>
            <a:xfrm>
              <a:off x="7162600" y="3034400"/>
              <a:ext cx="2315400" cy="82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45720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A6A7A"/>
                </a:buClr>
                <a:buSzPts val="850"/>
                <a:buFont typeface="Calibri"/>
                <a:buNone/>
              </a:pPr>
              <a:r>
                <a:rPr b="1" i="0" lang="en-GB" sz="950" u="none" cap="none" strike="noStrike">
                  <a:solidFill>
                    <a:schemeClr val="accent2"/>
                  </a:solidFill>
                  <a:latin typeface="Calibri"/>
                  <a:ea typeface="Calibri"/>
                  <a:cs typeface="Calibri"/>
                  <a:sym typeface="Calibri"/>
                </a:rPr>
                <a:t>Questionnaires</a:t>
              </a:r>
              <a:endParaRPr b="1" i="0" sz="95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4572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50"/>
                <a:buFont typeface="Arial"/>
                <a:buNone/>
              </a:pPr>
              <a:r>
                <a:rPr b="0" i="0" lang="en-GB" sz="950" u="none" cap="none" strike="noStrike">
                  <a:solidFill>
                    <a:schemeClr val="accent2"/>
                  </a:solidFill>
                  <a:latin typeface="Calibri"/>
                  <a:ea typeface="Calibri"/>
                  <a:cs typeface="Calibri"/>
                  <a:sym typeface="Calibri"/>
                </a:rPr>
                <a:t>FMI-13 </a:t>
              </a:r>
              <a:endParaRPr b="0" i="0" sz="95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4572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50"/>
                <a:buFont typeface="Arial"/>
                <a:buNone/>
              </a:pPr>
              <a:r>
                <a:rPr b="0" i="0" lang="en-GB" sz="950" u="none" cap="none" strike="noStrike">
                  <a:solidFill>
                    <a:schemeClr val="accent2"/>
                  </a:solidFill>
                  <a:latin typeface="Calibri"/>
                  <a:ea typeface="Calibri"/>
                  <a:cs typeface="Calibri"/>
                  <a:sym typeface="Calibri"/>
                </a:rPr>
                <a:t>SOCS-O </a:t>
              </a:r>
              <a:endParaRPr b="0" i="0" sz="95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4572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50"/>
                <a:buFont typeface="Arial"/>
                <a:buNone/>
              </a:pPr>
              <a:r>
                <a:rPr b="0" i="0" lang="en-GB" sz="950" u="none" cap="none" strike="noStrike">
                  <a:solidFill>
                    <a:schemeClr val="accent2"/>
                  </a:solidFill>
                  <a:latin typeface="Calibri"/>
                  <a:ea typeface="Calibri"/>
                  <a:cs typeface="Calibri"/>
                  <a:sym typeface="Calibri"/>
                </a:rPr>
                <a:t>SOCS-S</a:t>
              </a:r>
              <a:endParaRPr b="0" i="0" sz="95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65" name="Google Shape;165;p18"/>
            <p:cNvCxnSpPr/>
            <p:nvPr/>
          </p:nvCxnSpPr>
          <p:spPr>
            <a:xfrm>
              <a:off x="7937875" y="2297850"/>
              <a:ext cx="8400" cy="81000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66" name="Google Shape;166;p18"/>
            <p:cNvSpPr/>
            <p:nvPr/>
          </p:nvSpPr>
          <p:spPr>
            <a:xfrm>
              <a:off x="6745970" y="2876865"/>
              <a:ext cx="1280100" cy="82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A6A7A"/>
                </a:buClr>
                <a:buSzPts val="850"/>
                <a:buFont typeface="Calibri"/>
                <a:buNone/>
              </a:pPr>
              <a:r>
                <a:rPr b="1" i="0" lang="en-GB" sz="850" u="none" cap="none" strike="noStrike">
                  <a:solidFill>
                    <a:schemeClr val="accent4"/>
                  </a:solidFill>
                  <a:latin typeface="Calibri"/>
                  <a:ea typeface="Calibri"/>
                  <a:cs typeface="Calibri"/>
                  <a:sym typeface="Calibri"/>
                </a:rPr>
                <a:t>fMRI scan</a:t>
              </a:r>
              <a:endParaRPr b="1" i="0" sz="85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67" name="Google Shape;167;p18"/>
            <p:cNvCxnSpPr/>
            <p:nvPr/>
          </p:nvCxnSpPr>
          <p:spPr>
            <a:xfrm flipH="1">
              <a:off x="7381975" y="2287950"/>
              <a:ext cx="8100" cy="886800"/>
            </a:xfrm>
            <a:prstGeom prst="straightConnector1">
              <a:avLst/>
            </a:pr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68" name="Google Shape;168;p18"/>
          <p:cNvSpPr/>
          <p:nvPr/>
        </p:nvSpPr>
        <p:spPr>
          <a:xfrm>
            <a:off x="7879618" y="3390371"/>
            <a:ext cx="1539600" cy="50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8F71"/>
              </a:buClr>
              <a:buSzPts val="1100"/>
              <a:buFont typeface="Calibri"/>
              <a:buNone/>
            </a:pPr>
            <a:r>
              <a:rPr b="1" i="0" lang="en-GB" sz="1100" u="none" cap="none" strike="noStrike">
                <a:solidFill>
                  <a:srgbClr val="B45F06"/>
                </a:solidFill>
                <a:latin typeface="Calibri"/>
                <a:ea typeface="Calibri"/>
                <a:cs typeface="Calibri"/>
                <a:sym typeface="Calibri"/>
              </a:rPr>
              <a:t>Follow-Up Assessments:</a:t>
            </a:r>
            <a:endParaRPr b="1" i="0" sz="1100" u="none" cap="none" strike="noStrike">
              <a:solidFill>
                <a:srgbClr val="B45F0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8"/>
          <p:cNvSpPr/>
          <p:nvPr/>
        </p:nvSpPr>
        <p:spPr>
          <a:xfrm>
            <a:off x="7604400" y="3939000"/>
            <a:ext cx="1539600" cy="120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100"/>
              <a:buFont typeface="Calibri"/>
              <a:buNone/>
            </a:pPr>
            <a:r>
              <a:rPr b="1" i="0" lang="en-GB" sz="1100" u="none" cap="none" strike="noStrik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1 Week After:  </a:t>
            </a:r>
            <a:r>
              <a:rPr b="0" i="0" lang="en-GB" sz="1100" u="none" cap="none" strike="noStrik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Trait mindfulness (FMI-13)     </a:t>
            </a:r>
            <a:r>
              <a:rPr b="1" i="0" lang="en-GB" sz="1100" u="none" cap="none" strike="noStrik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    1 Month After:  </a:t>
            </a:r>
            <a:r>
              <a:rPr b="0" i="0" lang="en-GB" sz="1100" u="none" cap="none" strike="noStrik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Meaningfulness, spiritual significance, well-being change, blinding efficacy ratings</a:t>
            </a:r>
            <a:endParaRPr b="0" i="0" sz="1100" u="none" cap="none" strike="noStrike">
              <a:solidFill>
                <a:srgbClr val="D9770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8F71"/>
              </a:buClr>
              <a:buSzPts val="1100"/>
              <a:buFont typeface="Calibri"/>
              <a:buNone/>
            </a:pPr>
            <a:r>
              <a:t/>
            </a:r>
            <a:endParaRPr b="1" i="0" sz="1100" u="none" cap="none" strike="noStrike">
              <a:solidFill>
                <a:srgbClr val="D9770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0" name="Google Shape;170;p18"/>
          <p:cNvCxnSpPr/>
          <p:nvPr/>
        </p:nvCxnSpPr>
        <p:spPr>
          <a:xfrm flipH="1">
            <a:off x="8478225" y="2256400"/>
            <a:ext cx="1800" cy="11760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1" name="Google Shape;171;p18"/>
          <p:cNvSpPr/>
          <p:nvPr/>
        </p:nvSpPr>
        <p:spPr>
          <a:xfrm>
            <a:off x="7604395" y="2248337"/>
            <a:ext cx="219600" cy="219600"/>
          </a:xfrm>
          <a:prstGeom prst="ellipse">
            <a:avLst/>
          </a:prstGeom>
          <a:solidFill>
            <a:srgbClr val="2E4A6B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18"/>
          <p:cNvSpPr/>
          <p:nvPr/>
        </p:nvSpPr>
        <p:spPr>
          <a:xfrm>
            <a:off x="7930425" y="1803275"/>
            <a:ext cx="1097400" cy="69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950"/>
              <a:buFont typeface="Calibri"/>
              <a:buNone/>
            </a:pPr>
            <a:r>
              <a:rPr b="1" i="0" lang="en-GB" sz="95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Post- Retreat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DF2F7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9"/>
          <p:cNvSpPr/>
          <p:nvPr/>
        </p:nvSpPr>
        <p:spPr>
          <a:xfrm>
            <a:off x="0" y="0"/>
            <a:ext cx="9144000" cy="77730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19"/>
          <p:cNvSpPr/>
          <p:nvPr/>
        </p:nvSpPr>
        <p:spPr>
          <a:xfrm>
            <a:off x="365760" y="0"/>
            <a:ext cx="18288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8F71"/>
              </a:buClr>
              <a:buSzPts val="1000"/>
              <a:buFont typeface="Calibri"/>
              <a:buNone/>
            </a:pPr>
            <a:r>
              <a:rPr b="1" i="0" lang="en-GB" sz="1000" u="none" cap="none" strike="noStrike">
                <a:solidFill>
                  <a:srgbClr val="6B8F71"/>
                </a:solidFill>
                <a:latin typeface="Calibri"/>
                <a:ea typeface="Calibri"/>
                <a:cs typeface="Calibri"/>
                <a:sym typeface="Calibri"/>
              </a:rPr>
              <a:t>PROTOCOL — SCHEDULE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9"/>
          <p:cNvSpPr/>
          <p:nvPr/>
        </p:nvSpPr>
        <p:spPr>
          <a:xfrm>
            <a:off x="365760" y="0"/>
            <a:ext cx="84126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GB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Day-2 (Drug Day) Detailed Schedule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9"/>
          <p:cNvSpPr/>
          <p:nvPr/>
        </p:nvSpPr>
        <p:spPr>
          <a:xfrm>
            <a:off x="365710" y="937320"/>
            <a:ext cx="8412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1300"/>
              <a:buFont typeface="Calibri"/>
              <a:buNone/>
            </a:pPr>
            <a:r>
              <a:rPr b="0" i="1" lang="en-GB" sz="130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Dose administration began at 10:30. Each cycle repeated: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9"/>
          <p:cNvSpPr/>
          <p:nvPr/>
        </p:nvSpPr>
        <p:spPr>
          <a:xfrm>
            <a:off x="914400" y="1463040"/>
            <a:ext cx="640200" cy="640200"/>
          </a:xfrm>
          <a:prstGeom prst="ellipse">
            <a:avLst/>
          </a:prstGeom>
          <a:solidFill>
            <a:srgbClr val="2E4A6B"/>
          </a:solidFill>
          <a:ln cap="flat" cmpd="sng" w="12700">
            <a:solidFill>
              <a:srgbClr val="2E4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19"/>
          <p:cNvSpPr/>
          <p:nvPr/>
        </p:nvSpPr>
        <p:spPr>
          <a:xfrm>
            <a:off x="914400" y="1463040"/>
            <a:ext cx="6402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GB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4" name="Google Shape;184;p19"/>
          <p:cNvCxnSpPr/>
          <p:nvPr/>
        </p:nvCxnSpPr>
        <p:spPr>
          <a:xfrm>
            <a:off x="1737360" y="1783080"/>
            <a:ext cx="548700" cy="0"/>
          </a:xfrm>
          <a:prstGeom prst="straightConnector1">
            <a:avLst/>
          </a:prstGeom>
          <a:noFill/>
          <a:ln cap="flat" cmpd="sng" w="19050">
            <a:solidFill>
              <a:srgbClr val="AABB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5" name="Google Shape;185;p19"/>
          <p:cNvSpPr/>
          <p:nvPr/>
        </p:nvSpPr>
        <p:spPr>
          <a:xfrm>
            <a:off x="548640" y="2240280"/>
            <a:ext cx="1463100" cy="1371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C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19"/>
          <p:cNvSpPr/>
          <p:nvPr/>
        </p:nvSpPr>
        <p:spPr>
          <a:xfrm>
            <a:off x="548640" y="2286000"/>
            <a:ext cx="14631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4A6B"/>
              </a:buClr>
              <a:buSzPts val="1150"/>
              <a:buFont typeface="Calibri"/>
              <a:buNone/>
            </a:pPr>
            <a:r>
              <a:rPr b="1" i="0" lang="en-GB" sz="1150" u="none" cap="none" strike="noStrike">
                <a:solidFill>
                  <a:srgbClr val="2E4A6B"/>
                </a:solidFill>
                <a:latin typeface="Calibri"/>
                <a:ea typeface="Calibri"/>
                <a:cs typeface="Calibri"/>
                <a:sym typeface="Calibri"/>
              </a:rPr>
              <a:t>Sitting Meditation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9"/>
          <p:cNvSpPr/>
          <p:nvPr/>
        </p:nvSpPr>
        <p:spPr>
          <a:xfrm>
            <a:off x="548640" y="3200400"/>
            <a:ext cx="1463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1000"/>
              <a:buFont typeface="Calibri"/>
              <a:buNone/>
            </a:pPr>
            <a:r>
              <a:rPr b="0" i="0" lang="en-GB" sz="100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20 min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9"/>
          <p:cNvSpPr/>
          <p:nvPr/>
        </p:nvSpPr>
        <p:spPr>
          <a:xfrm>
            <a:off x="3090672" y="1463040"/>
            <a:ext cx="640200" cy="640200"/>
          </a:xfrm>
          <a:prstGeom prst="ellipse">
            <a:avLst/>
          </a:prstGeom>
          <a:solidFill>
            <a:srgbClr val="6B8F71"/>
          </a:solidFill>
          <a:ln cap="flat" cmpd="sng" w="12700">
            <a:solidFill>
              <a:srgbClr val="6B8F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19"/>
          <p:cNvSpPr/>
          <p:nvPr/>
        </p:nvSpPr>
        <p:spPr>
          <a:xfrm>
            <a:off x="3090672" y="1463040"/>
            <a:ext cx="6402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GB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0" name="Google Shape;190;p19"/>
          <p:cNvCxnSpPr/>
          <p:nvPr/>
        </p:nvCxnSpPr>
        <p:spPr>
          <a:xfrm>
            <a:off x="3913632" y="1783080"/>
            <a:ext cx="548700" cy="0"/>
          </a:xfrm>
          <a:prstGeom prst="straightConnector1">
            <a:avLst/>
          </a:prstGeom>
          <a:noFill/>
          <a:ln cap="flat" cmpd="sng" w="19050">
            <a:solidFill>
              <a:srgbClr val="AABB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1" name="Google Shape;191;p19"/>
          <p:cNvSpPr/>
          <p:nvPr/>
        </p:nvSpPr>
        <p:spPr>
          <a:xfrm>
            <a:off x="2724912" y="2240280"/>
            <a:ext cx="1463100" cy="1371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C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19"/>
          <p:cNvSpPr/>
          <p:nvPr/>
        </p:nvSpPr>
        <p:spPr>
          <a:xfrm>
            <a:off x="2724912" y="2286000"/>
            <a:ext cx="14631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8F71"/>
              </a:buClr>
              <a:buSzPts val="1150"/>
              <a:buFont typeface="Calibri"/>
              <a:buNone/>
            </a:pPr>
            <a:r>
              <a:rPr b="1" i="0" lang="en-GB" sz="1150" u="none" cap="none" strike="noStrike">
                <a:solidFill>
                  <a:srgbClr val="6B8F71"/>
                </a:solidFill>
                <a:latin typeface="Calibri"/>
                <a:ea typeface="Calibri"/>
                <a:cs typeface="Calibri"/>
                <a:sym typeface="Calibri"/>
              </a:rPr>
              <a:t>Vital Signs +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8F71"/>
              </a:buClr>
              <a:buSzPts val="1150"/>
              <a:buFont typeface="Calibri"/>
              <a:buNone/>
            </a:pPr>
            <a:r>
              <a:rPr b="1" i="0" lang="en-GB" sz="1150" u="none" cap="none" strike="noStrike">
                <a:solidFill>
                  <a:srgbClr val="6B8F71"/>
                </a:solidFill>
                <a:latin typeface="Calibri"/>
                <a:ea typeface="Calibri"/>
                <a:cs typeface="Calibri"/>
                <a:sym typeface="Calibri"/>
              </a:rPr>
              <a:t>Acute Psychometry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9"/>
          <p:cNvSpPr/>
          <p:nvPr/>
        </p:nvSpPr>
        <p:spPr>
          <a:xfrm>
            <a:off x="2724912" y="3200400"/>
            <a:ext cx="1463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1000"/>
              <a:buFont typeface="Calibri"/>
              <a:buNone/>
            </a:pPr>
            <a:r>
              <a:rPr b="0" i="0" lang="en-GB" sz="100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5 min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9"/>
          <p:cNvSpPr/>
          <p:nvPr/>
        </p:nvSpPr>
        <p:spPr>
          <a:xfrm>
            <a:off x="5266944" y="1463040"/>
            <a:ext cx="640200" cy="640200"/>
          </a:xfrm>
          <a:prstGeom prst="ellipse">
            <a:avLst/>
          </a:prstGeom>
          <a:solidFill>
            <a:srgbClr val="2A7F8A"/>
          </a:solidFill>
          <a:ln cap="flat" cmpd="sng" w="12700">
            <a:solidFill>
              <a:srgbClr val="2A7F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19"/>
          <p:cNvSpPr/>
          <p:nvPr/>
        </p:nvSpPr>
        <p:spPr>
          <a:xfrm>
            <a:off x="5266944" y="1463040"/>
            <a:ext cx="6402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GB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6" name="Google Shape;196;p19"/>
          <p:cNvCxnSpPr/>
          <p:nvPr/>
        </p:nvCxnSpPr>
        <p:spPr>
          <a:xfrm>
            <a:off x="6089904" y="1783080"/>
            <a:ext cx="548700" cy="0"/>
          </a:xfrm>
          <a:prstGeom prst="straightConnector1">
            <a:avLst/>
          </a:prstGeom>
          <a:noFill/>
          <a:ln cap="flat" cmpd="sng" w="19050">
            <a:solidFill>
              <a:srgbClr val="AABB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7" name="Google Shape;197;p19"/>
          <p:cNvSpPr/>
          <p:nvPr/>
        </p:nvSpPr>
        <p:spPr>
          <a:xfrm>
            <a:off x="4901184" y="2240280"/>
            <a:ext cx="1463100" cy="1371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C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19"/>
          <p:cNvSpPr/>
          <p:nvPr/>
        </p:nvSpPr>
        <p:spPr>
          <a:xfrm>
            <a:off x="4901184" y="2286000"/>
            <a:ext cx="14631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7F8A"/>
              </a:buClr>
              <a:buSzPts val="1150"/>
              <a:buFont typeface="Calibri"/>
              <a:buNone/>
            </a:pPr>
            <a:r>
              <a:rPr b="1" i="0" lang="en-GB" sz="1150" u="none" cap="none" strike="noStrike">
                <a:solidFill>
                  <a:srgbClr val="2A7F8A"/>
                </a:solidFill>
                <a:latin typeface="Calibri"/>
                <a:ea typeface="Calibri"/>
                <a:cs typeface="Calibri"/>
                <a:sym typeface="Calibri"/>
              </a:rPr>
              <a:t>Walking Meditation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9"/>
          <p:cNvSpPr/>
          <p:nvPr/>
        </p:nvSpPr>
        <p:spPr>
          <a:xfrm>
            <a:off x="4901184" y="3200400"/>
            <a:ext cx="1463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1000"/>
              <a:buFont typeface="Calibri"/>
              <a:buNone/>
            </a:pPr>
            <a:r>
              <a:rPr b="0" i="0" lang="en-GB" sz="100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5 min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9"/>
          <p:cNvSpPr/>
          <p:nvPr/>
        </p:nvSpPr>
        <p:spPr>
          <a:xfrm>
            <a:off x="7443216" y="1463040"/>
            <a:ext cx="640200" cy="640200"/>
          </a:xfrm>
          <a:prstGeom prst="ellipse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19"/>
          <p:cNvSpPr/>
          <p:nvPr/>
        </p:nvSpPr>
        <p:spPr>
          <a:xfrm>
            <a:off x="7443216" y="1463040"/>
            <a:ext cx="6402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GB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9"/>
          <p:cNvSpPr/>
          <p:nvPr/>
        </p:nvSpPr>
        <p:spPr>
          <a:xfrm>
            <a:off x="7077456" y="2240280"/>
            <a:ext cx="1463100" cy="1371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C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19"/>
          <p:cNvSpPr/>
          <p:nvPr/>
        </p:nvSpPr>
        <p:spPr>
          <a:xfrm>
            <a:off x="7077456" y="2286000"/>
            <a:ext cx="14631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150"/>
              <a:buFont typeface="Calibri"/>
              <a:buNone/>
            </a:pPr>
            <a:r>
              <a:rPr b="1" i="0" lang="en-GB" sz="1150" u="none" cap="none" strike="noStrik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Drug / Placebo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150"/>
              <a:buFont typeface="Calibri"/>
              <a:buNone/>
            </a:pPr>
            <a:r>
              <a:rPr b="1" i="0" lang="en-GB" sz="1150" u="none" cap="none" strike="noStrik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Administration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9"/>
          <p:cNvSpPr/>
          <p:nvPr/>
        </p:nvSpPr>
        <p:spPr>
          <a:xfrm>
            <a:off x="7077450" y="2726250"/>
            <a:ext cx="14631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rgbClr val="5A6A7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1000"/>
              <a:buFont typeface="Calibri"/>
              <a:buNone/>
            </a:pPr>
            <a:r>
              <a:rPr b="0" i="0" lang="en-GB" sz="100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30 mg Harmine</a:t>
            </a:r>
            <a:br>
              <a:rPr b="0" i="0" lang="en-GB" sz="100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GB" sz="100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br>
              <a:rPr b="0" i="0" lang="en-GB" sz="100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GB" sz="100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30 mg DMT</a:t>
            </a:r>
            <a:endParaRPr b="0" i="0" sz="1000" u="none" cap="none" strike="noStrike">
              <a:solidFill>
                <a:srgbClr val="5A6A7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rgbClr val="5A6A7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1000"/>
              <a:buFont typeface="Calibri"/>
              <a:buNone/>
            </a:pPr>
            <a:r>
              <a:rPr b="0" i="0" lang="en-GB" sz="100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Sublingual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9"/>
          <p:cNvSpPr/>
          <p:nvPr/>
        </p:nvSpPr>
        <p:spPr>
          <a:xfrm>
            <a:off x="365760" y="4434840"/>
            <a:ext cx="8412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1050"/>
              <a:buFont typeface="Calibri"/>
              <a:buNone/>
            </a:pPr>
            <a:r>
              <a:rPr b="1" i="1" lang="en-GB" sz="105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This cycle repeated 4 times. </a:t>
            </a:r>
            <a:r>
              <a:rPr b="0" i="1" lang="en-GB" sz="105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Drug/Placebo was administered after walking meditation, before the next sitting meditation.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DF2F7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0"/>
          <p:cNvSpPr/>
          <p:nvPr/>
        </p:nvSpPr>
        <p:spPr>
          <a:xfrm>
            <a:off x="0" y="0"/>
            <a:ext cx="9144000" cy="77730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20"/>
          <p:cNvSpPr/>
          <p:nvPr/>
        </p:nvSpPr>
        <p:spPr>
          <a:xfrm>
            <a:off x="365760" y="0"/>
            <a:ext cx="18288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8F71"/>
              </a:buClr>
              <a:buSzPts val="1000"/>
              <a:buFont typeface="Calibri"/>
              <a:buNone/>
            </a:pPr>
            <a:r>
              <a:rPr b="1" i="0" lang="en-GB" sz="1000" u="none" cap="none" strike="noStrike">
                <a:solidFill>
                  <a:srgbClr val="6B8F71"/>
                </a:solidFill>
                <a:latin typeface="Calibri"/>
                <a:ea typeface="Calibri"/>
                <a:cs typeface="Calibri"/>
                <a:sym typeface="Calibri"/>
              </a:rPr>
              <a:t>fMRI — DATA ACQUISITION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0"/>
          <p:cNvSpPr/>
          <p:nvPr/>
        </p:nvSpPr>
        <p:spPr>
          <a:xfrm>
            <a:off x="365760" y="0"/>
            <a:ext cx="84126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GB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fMRI Acquisition Parameters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0"/>
          <p:cNvSpPr/>
          <p:nvPr/>
        </p:nvSpPr>
        <p:spPr>
          <a:xfrm>
            <a:off x="274345" y="1236788"/>
            <a:ext cx="8595300" cy="45720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20"/>
          <p:cNvSpPr/>
          <p:nvPr/>
        </p:nvSpPr>
        <p:spPr>
          <a:xfrm>
            <a:off x="411505" y="1236788"/>
            <a:ext cx="8321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8F71"/>
              </a:buClr>
              <a:buSzPts val="1050"/>
              <a:buFont typeface="Calibri"/>
              <a:buNone/>
            </a:pPr>
            <a:r>
              <a:rPr b="1" i="0" lang="en-GB" sz="1050" u="none" cap="none" strike="noStrike">
                <a:solidFill>
                  <a:srgbClr val="6B8F71"/>
                </a:solidFill>
                <a:latin typeface="Calibri"/>
                <a:ea typeface="Calibri"/>
                <a:cs typeface="Calibri"/>
                <a:sym typeface="Calibri"/>
              </a:rPr>
              <a:t>Scanner: </a:t>
            </a:r>
            <a:r>
              <a:rPr b="0" i="0" lang="en-GB" sz="105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Philips Achieva 3.0T  |  32-channel head coil  |  MultiTransmit parallel RF  |  University Hospital of Psychiatry Zurich  |  10–11 participants/day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0"/>
          <p:cNvSpPr/>
          <p:nvPr/>
        </p:nvSpPr>
        <p:spPr>
          <a:xfrm>
            <a:off x="274345" y="1803715"/>
            <a:ext cx="4114800" cy="2103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CE8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20"/>
          <p:cNvSpPr/>
          <p:nvPr/>
        </p:nvSpPr>
        <p:spPr>
          <a:xfrm>
            <a:off x="274345" y="1803715"/>
            <a:ext cx="4114800" cy="255900"/>
          </a:xfrm>
          <a:prstGeom prst="rect">
            <a:avLst/>
          </a:prstGeom>
          <a:solidFill>
            <a:srgbClr val="2E4A6B"/>
          </a:solidFill>
          <a:ln cap="flat" cmpd="sng" w="12700">
            <a:solidFill>
              <a:srgbClr val="2E4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20"/>
          <p:cNvSpPr/>
          <p:nvPr/>
        </p:nvSpPr>
        <p:spPr>
          <a:xfrm>
            <a:off x="347497" y="1803715"/>
            <a:ext cx="4023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GB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Functional MRI — Resting State (eyes closed)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0"/>
          <p:cNvSpPr/>
          <p:nvPr/>
        </p:nvSpPr>
        <p:spPr>
          <a:xfrm>
            <a:off x="384073" y="2096324"/>
            <a:ext cx="3913500" cy="17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162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150"/>
              <a:buFont typeface="Calibri"/>
              <a:buChar char="-"/>
            </a:pPr>
            <a:r>
              <a:rPr b="0" i="0" lang="en-GB" sz="115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Sequence: Gradient echo EPI, whole-brain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162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150"/>
              <a:buFont typeface="Calibri"/>
              <a:buChar char="-"/>
            </a:pPr>
            <a:r>
              <a:rPr b="1" i="0" lang="en-GB" sz="115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TR = 1800 ms </a:t>
            </a:r>
            <a:r>
              <a:rPr b="0" i="0" lang="en-GB" sz="115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  |   TE = 35 ms   |   FA = 70°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162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150"/>
              <a:buFont typeface="Calibri"/>
              <a:buChar char="-"/>
            </a:pPr>
            <a:r>
              <a:rPr b="0" i="0" lang="en-GB" sz="115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FoV = 220 × 220 mm²   |   Matrix = 124 × 121 mm²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162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150"/>
              <a:buFont typeface="Calibri"/>
              <a:buChar char="-"/>
            </a:pPr>
            <a:r>
              <a:rPr b="0" i="0" lang="en-GB" sz="115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Slices = 54   |   No interslice gap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162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150"/>
              <a:buFont typeface="Calibri"/>
              <a:buChar char="-"/>
            </a:pPr>
            <a:r>
              <a:rPr b="0" i="0" lang="en-GB" sz="115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Voxel size = 1.7 × 1.7 × 2.0 mm³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162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150"/>
              <a:buFont typeface="Calibri"/>
              <a:buChar char="-"/>
            </a:pPr>
            <a:r>
              <a:rPr b="0" i="0" lang="en-GB" sz="115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Volumes = 240   |  </a:t>
            </a:r>
            <a:r>
              <a:rPr b="1" i="0" lang="en-GB" sz="115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 Session duration = 7.40 min</a:t>
            </a:r>
            <a:endParaRPr b="1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0"/>
          <p:cNvSpPr/>
          <p:nvPr/>
        </p:nvSpPr>
        <p:spPr>
          <a:xfrm>
            <a:off x="4617745" y="1803715"/>
            <a:ext cx="4251900" cy="2103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CE8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20"/>
          <p:cNvSpPr/>
          <p:nvPr/>
        </p:nvSpPr>
        <p:spPr>
          <a:xfrm>
            <a:off x="4617745" y="1803715"/>
            <a:ext cx="4251900" cy="255900"/>
          </a:xfrm>
          <a:prstGeom prst="rect">
            <a:avLst/>
          </a:prstGeom>
          <a:solidFill>
            <a:srgbClr val="2A7F8A"/>
          </a:solidFill>
          <a:ln cap="flat" cmpd="sng" w="12700">
            <a:solidFill>
              <a:srgbClr val="2A7F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20"/>
          <p:cNvSpPr/>
          <p:nvPr/>
        </p:nvSpPr>
        <p:spPr>
          <a:xfrm>
            <a:off x="4690897" y="1803715"/>
            <a:ext cx="4160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GB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Structural MRI — T1w (Post session only)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0"/>
          <p:cNvSpPr/>
          <p:nvPr/>
        </p:nvSpPr>
        <p:spPr>
          <a:xfrm>
            <a:off x="4727473" y="2096324"/>
            <a:ext cx="4050900" cy="17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150"/>
              <a:buFont typeface="Calibri"/>
              <a:buNone/>
            </a:pPr>
            <a:r>
              <a:rPr b="0" i="0" lang="en-GB" sz="115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Sequence: 3D multishot Turbo Field Echo (TFE)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162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150"/>
              <a:buFont typeface="Calibri"/>
              <a:buChar char="-"/>
            </a:pPr>
            <a:r>
              <a:rPr b="1" i="0" lang="en-GB" sz="115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TR = 8.2 ms</a:t>
            </a:r>
            <a:r>
              <a:rPr b="0" i="0" lang="en-GB" sz="115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   |   TE = 3.8 ms   |   FA = 8°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162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150"/>
              <a:buFont typeface="Calibri"/>
              <a:buChar char="-"/>
            </a:pPr>
            <a:r>
              <a:rPr b="0" i="0" lang="en-GB" sz="115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FoV = 240 × 240 mm²   |   Slices = 160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162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150"/>
              <a:buFont typeface="Calibri"/>
              <a:buChar char="-"/>
            </a:pPr>
            <a:r>
              <a:rPr b="0" i="0" lang="en-GB" sz="115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No interslice gap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162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150"/>
              <a:buFont typeface="Calibri"/>
              <a:buChar char="-"/>
            </a:pPr>
            <a:r>
              <a:rPr b="0" i="0" lang="en-GB" sz="115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Voxel size = 1.0 × 1.0 × 1.0 mm³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162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150"/>
              <a:buFont typeface="Calibri"/>
              <a:buChar char="-"/>
            </a:pPr>
            <a:r>
              <a:rPr b="1" i="0" lang="en-GB" sz="115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Acquisition time = 4.53 min</a:t>
            </a:r>
            <a:endParaRPr b="1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DF2F7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1"/>
          <p:cNvSpPr/>
          <p:nvPr/>
        </p:nvSpPr>
        <p:spPr>
          <a:xfrm>
            <a:off x="0" y="0"/>
            <a:ext cx="3570300" cy="184200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21"/>
          <p:cNvSpPr/>
          <p:nvPr/>
        </p:nvSpPr>
        <p:spPr>
          <a:xfrm>
            <a:off x="365760" y="0"/>
            <a:ext cx="18288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8F71"/>
              </a:buClr>
              <a:buSzPts val="1000"/>
              <a:buFont typeface="Calibri"/>
              <a:buNone/>
            </a:pPr>
            <a:r>
              <a:rPr b="1" i="0" lang="en-GB" sz="1000" u="none" cap="none" strike="noStrike">
                <a:solidFill>
                  <a:srgbClr val="6B8F71"/>
                </a:solidFill>
                <a:latin typeface="Calibri"/>
                <a:ea typeface="Calibri"/>
                <a:cs typeface="Calibri"/>
                <a:sym typeface="Calibri"/>
              </a:rPr>
              <a:t>PROTOCOL — SCHEDULE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1"/>
          <p:cNvSpPr/>
          <p:nvPr/>
        </p:nvSpPr>
        <p:spPr>
          <a:xfrm>
            <a:off x="0" y="557125"/>
            <a:ext cx="3399600" cy="11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GB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Participant Overview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2" name="Google Shape;232;p21" title="Screenshot 2026-04-17 at 19.34.37.png"/>
          <p:cNvPicPr preferRelativeResize="0"/>
          <p:nvPr/>
        </p:nvPicPr>
        <p:blipFill rotWithShape="1">
          <a:blip r:embed="rId3">
            <a:alphaModFix/>
          </a:blip>
          <a:srcRect b="0" l="0" r="0" t="2969"/>
          <a:stretch/>
        </p:blipFill>
        <p:spPr>
          <a:xfrm>
            <a:off x="3399682" y="0"/>
            <a:ext cx="5744316" cy="51435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3" name="Google Shape;233;p21"/>
          <p:cNvGrpSpPr/>
          <p:nvPr/>
        </p:nvGrpSpPr>
        <p:grpSpPr>
          <a:xfrm>
            <a:off x="46500" y="2489186"/>
            <a:ext cx="3306600" cy="889592"/>
            <a:chOff x="35950" y="2608800"/>
            <a:chExt cx="3306600" cy="976500"/>
          </a:xfrm>
        </p:grpSpPr>
        <p:sp>
          <p:nvSpPr>
            <p:cNvPr id="234" name="Google Shape;234;p21"/>
            <p:cNvSpPr/>
            <p:nvPr/>
          </p:nvSpPr>
          <p:spPr>
            <a:xfrm>
              <a:off x="35950" y="2608800"/>
              <a:ext cx="3306600" cy="976500"/>
            </a:xfrm>
            <a:prstGeom prst="rect">
              <a:avLst/>
            </a:prstGeom>
            <a:solidFill>
              <a:srgbClr val="EEF6F0"/>
            </a:solidFill>
            <a:ln cap="flat" cmpd="sng" w="12700">
              <a:solidFill>
                <a:srgbClr val="6B8F7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" name="Google Shape;235;p21"/>
            <p:cNvSpPr txBox="1"/>
            <p:nvPr/>
          </p:nvSpPr>
          <p:spPr>
            <a:xfrm>
              <a:off x="35950" y="2608800"/>
              <a:ext cx="3306600" cy="94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-GB" sz="1100" u="none" cap="none" strike="noStrike">
                  <a:solidFill>
                    <a:srgbClr val="5A6A7A"/>
                  </a:solidFill>
                  <a:latin typeface="Calibri"/>
                  <a:ea typeface="Calibri"/>
                  <a:cs typeface="Calibri"/>
                  <a:sym typeface="Calibri"/>
                </a:rPr>
                <a:t>Participants reported </a:t>
              </a:r>
              <a:r>
                <a:rPr b="0" i="0" lang="en-GB" sz="1100" u="sng" cap="none" strike="noStrike">
                  <a:solidFill>
                    <a:srgbClr val="5A6A7A"/>
                  </a:solidFill>
                  <a:latin typeface="Calibri"/>
                  <a:ea typeface="Calibri"/>
                  <a:cs typeface="Calibri"/>
                  <a:sym typeface="Calibri"/>
                </a:rPr>
                <a:t>an average of 2422.5 h of meditation</a:t>
              </a:r>
              <a:r>
                <a:rPr b="0" i="0" lang="en-GB" sz="1100" u="none" cap="none" strike="noStrike">
                  <a:solidFill>
                    <a:srgbClr val="5A6A7A"/>
                  </a:solidFill>
                  <a:latin typeface="Calibri"/>
                  <a:ea typeface="Calibri"/>
                  <a:cs typeface="Calibri"/>
                  <a:sym typeface="Calibri"/>
                </a:rPr>
                <a:t> (800–10,000), coming from various traditions, including Zen, Vipassana, and Tibetan Buddhism</a:t>
              </a:r>
              <a:endParaRPr b="0" i="0" sz="110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DF2F7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2"/>
          <p:cNvSpPr/>
          <p:nvPr/>
        </p:nvSpPr>
        <p:spPr>
          <a:xfrm>
            <a:off x="0" y="0"/>
            <a:ext cx="9144000" cy="77730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22"/>
          <p:cNvSpPr/>
          <p:nvPr/>
        </p:nvSpPr>
        <p:spPr>
          <a:xfrm>
            <a:off x="37010" y="-203450"/>
            <a:ext cx="18288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8F71"/>
              </a:buClr>
              <a:buSzPts val="1000"/>
              <a:buFont typeface="Calibri"/>
              <a:buNone/>
            </a:pPr>
            <a:r>
              <a:rPr b="1" i="0" lang="en-GB" sz="1000" u="none" cap="none" strike="noStrike">
                <a:solidFill>
                  <a:srgbClr val="6B8F71"/>
                </a:solidFill>
                <a:latin typeface="Calibri"/>
                <a:ea typeface="Calibri"/>
                <a:cs typeface="Calibri"/>
                <a:sym typeface="Calibri"/>
              </a:rPr>
              <a:t>PHARMACOLOGY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2"/>
          <p:cNvSpPr/>
          <p:nvPr/>
        </p:nvSpPr>
        <p:spPr>
          <a:xfrm>
            <a:off x="365710" y="-50"/>
            <a:ext cx="84126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GB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Pharmacological Intervention: DMT-Harmine Formulation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2"/>
          <p:cNvSpPr/>
          <p:nvPr/>
        </p:nvSpPr>
        <p:spPr>
          <a:xfrm>
            <a:off x="200995" y="3103175"/>
            <a:ext cx="4206300" cy="1600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CE8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22"/>
          <p:cNvSpPr/>
          <p:nvPr/>
        </p:nvSpPr>
        <p:spPr>
          <a:xfrm>
            <a:off x="201000" y="3103175"/>
            <a:ext cx="4206300" cy="409800"/>
          </a:xfrm>
          <a:prstGeom prst="rect">
            <a:avLst/>
          </a:prstGeom>
          <a:solidFill>
            <a:srgbClr val="2A7F8A"/>
          </a:solidFill>
          <a:ln cap="flat" cmpd="sng" w="12700">
            <a:solidFill>
              <a:srgbClr val="2A7F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22"/>
          <p:cNvSpPr/>
          <p:nvPr/>
        </p:nvSpPr>
        <p:spPr>
          <a:xfrm>
            <a:off x="274150" y="3103175"/>
            <a:ext cx="4114800" cy="40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GB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Dosing Regimen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2"/>
          <p:cNvSpPr/>
          <p:nvPr/>
        </p:nvSpPr>
        <p:spPr>
          <a:xfrm>
            <a:off x="310725" y="3644425"/>
            <a:ext cx="4005000" cy="9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150"/>
              <a:buFont typeface="Calibri"/>
              <a:buNone/>
            </a:pPr>
            <a:r>
              <a:t/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48" name="Google Shape;248;p22"/>
          <p:cNvGrpSpPr/>
          <p:nvPr/>
        </p:nvGrpSpPr>
        <p:grpSpPr>
          <a:xfrm>
            <a:off x="200995" y="1255838"/>
            <a:ext cx="4206305" cy="1600200"/>
            <a:chOff x="182820" y="2559750"/>
            <a:chExt cx="4206305" cy="1600200"/>
          </a:xfrm>
        </p:grpSpPr>
        <p:sp>
          <p:nvSpPr>
            <p:cNvPr id="249" name="Google Shape;249;p22"/>
            <p:cNvSpPr/>
            <p:nvPr/>
          </p:nvSpPr>
          <p:spPr>
            <a:xfrm>
              <a:off x="182820" y="2559750"/>
              <a:ext cx="4206300" cy="1600200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D0DCE8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bl" dir="8100000" dist="25400">
                <a:srgbClr val="000000">
                  <a:alpha val="784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" name="Google Shape;250;p22"/>
            <p:cNvSpPr/>
            <p:nvPr/>
          </p:nvSpPr>
          <p:spPr>
            <a:xfrm>
              <a:off x="182825" y="2559750"/>
              <a:ext cx="4206300" cy="409800"/>
            </a:xfrm>
            <a:prstGeom prst="rect">
              <a:avLst/>
            </a:prstGeom>
            <a:solidFill>
              <a:srgbClr val="2E4A6B"/>
            </a:solidFill>
            <a:ln cap="flat" cmpd="sng" w="12700">
              <a:solidFill>
                <a:srgbClr val="2E4A6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" name="Google Shape;251;p22"/>
            <p:cNvSpPr/>
            <p:nvPr/>
          </p:nvSpPr>
          <p:spPr>
            <a:xfrm>
              <a:off x="255975" y="2559750"/>
              <a:ext cx="4114800" cy="47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900"/>
                <a:buFont typeface="Calibri"/>
                <a:buNone/>
              </a:pPr>
              <a:r>
                <a:rPr b="1" i="0" lang="en-GB" sz="1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Formulation</a:t>
              </a:r>
              <a:endPara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2" name="Google Shape;252;p22"/>
            <p:cNvSpPr/>
            <p:nvPr/>
          </p:nvSpPr>
          <p:spPr>
            <a:xfrm>
              <a:off x="292550" y="3100950"/>
              <a:ext cx="4005000" cy="9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A2332"/>
                </a:buClr>
                <a:buSzPts val="1150"/>
                <a:buFont typeface="Calibri"/>
                <a:buNone/>
              </a:pPr>
              <a:r>
                <a:rPr b="0" i="0" lang="en-GB" sz="1450" u="none" cap="none" strike="noStrike">
                  <a:solidFill>
                    <a:srgbClr val="1A2332"/>
                  </a:solidFill>
                  <a:latin typeface="Calibri"/>
                  <a:ea typeface="Calibri"/>
                  <a:cs typeface="Calibri"/>
                  <a:sym typeface="Calibri"/>
                </a:rPr>
                <a:t>Standardized sublingual tablets</a:t>
              </a:r>
              <a:endParaRPr b="0" i="0" sz="14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A2332"/>
                </a:buClr>
                <a:buSzPts val="1150"/>
                <a:buFont typeface="Calibri"/>
                <a:buNone/>
              </a:pPr>
              <a:r>
                <a:rPr b="0" i="0" lang="en-GB" sz="1450" u="none" cap="none" strike="noStrike">
                  <a:solidFill>
                    <a:srgbClr val="1A2332"/>
                  </a:solidFill>
                  <a:latin typeface="Calibri"/>
                  <a:ea typeface="Calibri"/>
                  <a:cs typeface="Calibri"/>
                  <a:sym typeface="Calibri"/>
                </a:rPr>
                <a:t>DMT hemisuccinate + harmine glucuronate</a:t>
              </a:r>
              <a:endParaRPr b="0" i="0" sz="14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A2332"/>
                </a:buClr>
                <a:buSzPts val="1150"/>
                <a:buFont typeface="Calibri"/>
                <a:buNone/>
              </a:pPr>
              <a:r>
                <a:rPr b="0" i="0" lang="en-GB" sz="1450" u="none" cap="none" strike="noStrike">
                  <a:solidFill>
                    <a:srgbClr val="1A2332"/>
                  </a:solidFill>
                  <a:latin typeface="Calibri"/>
                  <a:ea typeface="Calibri"/>
                  <a:cs typeface="Calibri"/>
                  <a:sym typeface="Calibri"/>
                </a:rPr>
                <a:t>Matched placebo (identical appearance &amp; taste)</a:t>
              </a:r>
              <a:endParaRPr b="0" i="0" sz="145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3" name="Google Shape;253;p22"/>
          <p:cNvSpPr/>
          <p:nvPr/>
        </p:nvSpPr>
        <p:spPr>
          <a:xfrm>
            <a:off x="274148" y="3588618"/>
            <a:ext cx="39135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150"/>
              <a:buFont typeface="Calibri"/>
              <a:buNone/>
            </a:pPr>
            <a:r>
              <a:rPr b="0" i="0" lang="en-GB" sz="145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30 mg DMT + 30 mg harmine per tablet (as freebase weight)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150"/>
              <a:buFont typeface="Calibri"/>
              <a:buNone/>
            </a:pPr>
            <a:r>
              <a:rPr b="0" i="0" lang="en-GB" sz="145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4 increments × every 30 minutes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150"/>
              <a:buFont typeface="Calibri"/>
              <a:buNone/>
            </a:pPr>
            <a:r>
              <a:rPr b="0" i="0" lang="en-GB" sz="145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Total: 120 mg DMT per session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2"/>
          <p:cNvSpPr/>
          <p:nvPr/>
        </p:nvSpPr>
        <p:spPr>
          <a:xfrm>
            <a:off x="4709130" y="1255850"/>
            <a:ext cx="4206300" cy="1600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CE8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22"/>
          <p:cNvSpPr/>
          <p:nvPr/>
        </p:nvSpPr>
        <p:spPr>
          <a:xfrm>
            <a:off x="4709125" y="1255850"/>
            <a:ext cx="4206300" cy="409800"/>
          </a:xfrm>
          <a:prstGeom prst="rect">
            <a:avLst/>
          </a:prstGeom>
          <a:solidFill>
            <a:srgbClr val="6B8F71"/>
          </a:solidFill>
          <a:ln cap="flat" cmpd="sng" w="12700">
            <a:solidFill>
              <a:srgbClr val="6B8F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22"/>
          <p:cNvSpPr/>
          <p:nvPr/>
        </p:nvSpPr>
        <p:spPr>
          <a:xfrm>
            <a:off x="4782275" y="1255850"/>
            <a:ext cx="4114800" cy="40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GB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Comparison to Ayahuasca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2"/>
          <p:cNvSpPr/>
          <p:nvPr/>
        </p:nvSpPr>
        <p:spPr>
          <a:xfrm>
            <a:off x="4818850" y="1797050"/>
            <a:ext cx="4005000" cy="9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150"/>
              <a:buFont typeface="Calibri"/>
              <a:buNone/>
            </a:pPr>
            <a:r>
              <a:rPr b="0" i="0" lang="en-GB" sz="145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Sublingual DMT hemisuccinate + harmine glucuronate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150"/>
              <a:buFont typeface="Calibri"/>
              <a:buNone/>
            </a:pPr>
            <a:r>
              <a:rPr b="0" i="0" lang="en-GB" sz="145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120 mg total DMT / session (4 × 30 mg every 30 min)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2"/>
          <p:cNvSpPr/>
          <p:nvPr/>
        </p:nvSpPr>
        <p:spPr>
          <a:xfrm>
            <a:off x="4709130" y="3084650"/>
            <a:ext cx="4206300" cy="1600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CE8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22"/>
          <p:cNvSpPr/>
          <p:nvPr/>
        </p:nvSpPr>
        <p:spPr>
          <a:xfrm>
            <a:off x="4709125" y="3084650"/>
            <a:ext cx="4206300" cy="409800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22"/>
          <p:cNvSpPr/>
          <p:nvPr/>
        </p:nvSpPr>
        <p:spPr>
          <a:xfrm>
            <a:off x="4782275" y="3084650"/>
            <a:ext cx="4114800" cy="40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GB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Blinding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2"/>
          <p:cNvSpPr/>
          <p:nvPr/>
        </p:nvSpPr>
        <p:spPr>
          <a:xfrm>
            <a:off x="4818850" y="3625900"/>
            <a:ext cx="4005000" cy="9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150"/>
              <a:buFont typeface="Calibri"/>
              <a:buNone/>
            </a:pPr>
            <a:r>
              <a:rPr b="0" i="0" lang="en-GB" sz="125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Placebo tablets matched in color and taste</a:t>
            </a:r>
            <a:endParaRPr b="0" i="0" sz="1250" u="none" cap="none" strike="noStrike">
              <a:solidFill>
                <a:srgbClr val="1A23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150"/>
              <a:buFont typeface="Calibri"/>
              <a:buNone/>
            </a:pPr>
            <a:r>
              <a:rPr b="0" i="0" lang="en-GB" sz="125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Blinding efficacy tested at the end of day 2:</a:t>
            </a:r>
            <a:br>
              <a:rPr b="0" i="0" lang="en-GB" sz="125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GB" sz="125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- Did you receive DMT-harmine or placebo? </a:t>
            </a:r>
            <a:br>
              <a:rPr b="0" i="0" lang="en-GB" sz="125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GB" sz="125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- How satisfied or disappointed are you with your condition? (0–10 each)</a:t>
            </a:r>
            <a:endParaRPr b="0" i="0" sz="1250" u="none" cap="none" strike="noStrike">
              <a:solidFill>
                <a:srgbClr val="1A23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150"/>
              <a:buFont typeface="Calibri"/>
              <a:buNone/>
            </a:pPr>
            <a:br>
              <a:rPr b="0" i="0" lang="en-GB" sz="125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GB" sz="145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50" u="none" cap="none" strike="noStrike">
              <a:solidFill>
                <a:srgbClr val="1A233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DF2F7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23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6B8F7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23"/>
          <p:cNvSpPr txBox="1"/>
          <p:nvPr/>
        </p:nvSpPr>
        <p:spPr>
          <a:xfrm>
            <a:off x="493776" y="201168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200" u="none" cap="none" strike="noStrike">
                <a:solidFill>
                  <a:srgbClr val="6B8F71"/>
                </a:solidFill>
                <a:latin typeface="Calibri"/>
                <a:ea typeface="Calibri"/>
                <a:cs typeface="Calibri"/>
                <a:sym typeface="Calibri"/>
              </a:rPr>
              <a:t>PREPROCESSING</a:t>
            </a:r>
            <a:endParaRPr/>
          </a:p>
        </p:txBody>
      </p:sp>
      <p:sp>
        <p:nvSpPr>
          <p:cNvPr id="269" name="Google Shape;269;p23"/>
          <p:cNvSpPr txBox="1"/>
          <p:nvPr/>
        </p:nvSpPr>
        <p:spPr>
          <a:xfrm>
            <a:off x="493776" y="2331720"/>
            <a:ext cx="82296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Denoising &amp; Motion Quality Control</a:t>
            </a:r>
            <a:endParaRPr/>
          </a:p>
        </p:txBody>
      </p:sp>
      <p:sp>
        <p:nvSpPr>
          <p:cNvPr id="270" name="Google Shape;270;p23"/>
          <p:cNvSpPr txBox="1"/>
          <p:nvPr/>
        </p:nvSpPr>
        <p:spPr>
          <a:xfrm>
            <a:off x="493776" y="329184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30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Post-fMRIPrep pipeline after Goldberg et al. (2024)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DF2F7"/>
        </a:solid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4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24"/>
          <p:cNvSpPr txBox="1"/>
          <p:nvPr/>
        </p:nvSpPr>
        <p:spPr>
          <a:xfrm>
            <a:off x="365760" y="73152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000" u="none" cap="none" strike="noStrike">
                <a:solidFill>
                  <a:srgbClr val="6B8F71"/>
                </a:solidFill>
                <a:latin typeface="Calibri"/>
                <a:ea typeface="Calibri"/>
                <a:cs typeface="Calibri"/>
                <a:sym typeface="Calibri"/>
              </a:rPr>
              <a:t>PREPROCESSING — OVERVIEW</a:t>
            </a:r>
            <a:endParaRPr/>
          </a:p>
        </p:txBody>
      </p:sp>
      <p:sp>
        <p:nvSpPr>
          <p:cNvPr id="277" name="Google Shape;277;p24"/>
          <p:cNvSpPr txBox="1"/>
          <p:nvPr/>
        </p:nvSpPr>
        <p:spPr>
          <a:xfrm>
            <a:off x="365760" y="274320"/>
            <a:ext cx="8412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Denoising Pipeline</a:t>
            </a:r>
            <a:endParaRPr/>
          </a:p>
        </p:txBody>
      </p:sp>
      <p:sp>
        <p:nvSpPr>
          <p:cNvPr id="278" name="Google Shape;278;p24"/>
          <p:cNvSpPr txBox="1"/>
          <p:nvPr/>
        </p:nvSpPr>
        <p:spPr>
          <a:xfrm>
            <a:off x="365750" y="1372525"/>
            <a:ext cx="8229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The following denoising pipeline was adapted from Goldberg et al. 2024, which is optimized for time analysis:</a:t>
            </a:r>
            <a:endParaRPr/>
          </a:p>
        </p:txBody>
      </p:sp>
      <p:sp>
        <p:nvSpPr>
          <p:cNvPr id="279" name="Google Shape;279;p24"/>
          <p:cNvSpPr txBox="1"/>
          <p:nvPr/>
        </p:nvSpPr>
        <p:spPr>
          <a:xfrm>
            <a:off x="614825" y="2183200"/>
            <a:ext cx="7899600" cy="16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GB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en-GB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uisance regression of mean WM, mean CSF, and 6 motion parameters with their first derivatives; spike regression for high-motion frames (FD &gt; 0.3 mm); Lomb–Scargle interpolation of censored frames before bandpass filtering (0.01–0.1 Hz). The L-S interpolation is the key step as they show that simply zeroing or removing censored frames disrupts the autocorrelation function (ACW) and systematically biases ACW toward shorter values.</a:t>
            </a:r>
            <a:endParaRPr>
              <a:solidFill>
                <a:srgbClr val="5A6A7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>
              <a:solidFill>
                <a:srgbClr val="5A6A7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4"/>
          <p:cNvSpPr/>
          <p:nvPr/>
        </p:nvSpPr>
        <p:spPr>
          <a:xfrm>
            <a:off x="366475" y="2035800"/>
            <a:ext cx="918000" cy="1021200"/>
          </a:xfrm>
          <a:prstGeom prst="halfFrame">
            <a:avLst>
              <a:gd fmla="val 12503" name="adj1"/>
              <a:gd fmla="val 13753" name="adj2"/>
            </a:avLst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24"/>
          <p:cNvSpPr/>
          <p:nvPr/>
        </p:nvSpPr>
        <p:spPr>
          <a:xfrm rot="10800000">
            <a:off x="7860350" y="2492200"/>
            <a:ext cx="918000" cy="1021200"/>
          </a:xfrm>
          <a:prstGeom prst="halfFrame">
            <a:avLst>
              <a:gd fmla="val 12503" name="adj1"/>
              <a:gd fmla="val 13753" name="adj2"/>
            </a:avLst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24"/>
          <p:cNvSpPr txBox="1"/>
          <p:nvPr/>
        </p:nvSpPr>
        <p:spPr>
          <a:xfrm>
            <a:off x="365740" y="4028641"/>
            <a:ext cx="8229600" cy="4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40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fMRIPrep BOLD  →  nuisance regressors  →  single GLM (residuals)  →  Lomb-Scargle interpolation  →  bandpass 0.01–0.1 Hz  →  denoised BOLD (±GSR)</a:t>
            </a:r>
            <a:endParaRPr/>
          </a:p>
        </p:txBody>
      </p:sp>
      <p:sp>
        <p:nvSpPr>
          <p:cNvPr id="283" name="Google Shape;283;p24"/>
          <p:cNvSpPr txBox="1"/>
          <p:nvPr/>
        </p:nvSpPr>
        <p:spPr>
          <a:xfrm>
            <a:off x="365750" y="3748800"/>
            <a:ext cx="82296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100" u="none" cap="none" strike="noStrike">
                <a:solidFill>
                  <a:srgbClr val="6B8F71"/>
                </a:solidFill>
                <a:latin typeface="Calibri"/>
                <a:ea typeface="Calibri"/>
                <a:cs typeface="Calibri"/>
                <a:sym typeface="Calibri"/>
              </a:rPr>
              <a:t>PROCESSING STEPS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DF2F7"/>
        </a:solidFill>
      </p:bgPr>
    </p:bg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5"/>
          <p:cNvSpPr/>
          <p:nvPr/>
        </p:nvSpPr>
        <p:spPr>
          <a:xfrm>
            <a:off x="0" y="0"/>
            <a:ext cx="9144000" cy="7773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25"/>
          <p:cNvSpPr txBox="1"/>
          <p:nvPr/>
        </p:nvSpPr>
        <p:spPr>
          <a:xfrm>
            <a:off x="365760" y="73152"/>
            <a:ext cx="8412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000" u="none" cap="none" strike="noStrike">
                <a:solidFill>
                  <a:srgbClr val="6B8F71"/>
                </a:solidFill>
                <a:latin typeface="Calibri"/>
                <a:ea typeface="Calibri"/>
                <a:cs typeface="Calibri"/>
                <a:sym typeface="Calibri"/>
              </a:rPr>
              <a:t>PREPROCESSING — OVERVIEW</a:t>
            </a:r>
            <a:endParaRPr/>
          </a:p>
        </p:txBody>
      </p:sp>
      <p:sp>
        <p:nvSpPr>
          <p:cNvPr id="290" name="Google Shape;290;p25"/>
          <p:cNvSpPr txBox="1"/>
          <p:nvPr/>
        </p:nvSpPr>
        <p:spPr>
          <a:xfrm>
            <a:off x="365760" y="274320"/>
            <a:ext cx="8412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Denoising Pipeline</a:t>
            </a:r>
            <a:endParaRPr/>
          </a:p>
        </p:txBody>
      </p:sp>
      <p:sp>
        <p:nvSpPr>
          <p:cNvPr id="291" name="Google Shape;291;p25"/>
          <p:cNvSpPr txBox="1"/>
          <p:nvPr/>
        </p:nvSpPr>
        <p:spPr>
          <a:xfrm>
            <a:off x="457190" y="1016553"/>
            <a:ext cx="8229600" cy="39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17500" lvl="0" marL="4572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AutoNum type="arabicPeriod"/>
            </a:pPr>
            <a:r>
              <a:rPr b="1" lang="en-GB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Regression + GLM</a:t>
            </a:r>
            <a:br>
              <a:rPr lang="en-GB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1" lang="en-GB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White matter + CSF  (2) —</a:t>
            </a:r>
            <a:r>
              <a:rPr lang="en-GB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 mean tissue signals</a:t>
            </a:r>
            <a:endParaRPr>
              <a:solidFill>
                <a:srgbClr val="1A23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1" lang="en-GB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Motion  (6) —</a:t>
            </a:r>
            <a:r>
              <a:rPr lang="en-GB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 trans_x/y/z, rot_x/y/z</a:t>
            </a:r>
            <a:endParaRPr>
              <a:solidFill>
                <a:srgbClr val="1A23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1" lang="en-GB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Derivatives  (6) — </a:t>
            </a:r>
            <a:r>
              <a:rPr lang="en-GB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first derivatives of the 6 motion params</a:t>
            </a:r>
            <a:br>
              <a:rPr lang="en-GB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r>
              <a:rPr lang="en-GB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GB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 Spike regressors  (n) — </a:t>
            </a:r>
            <a:r>
              <a:rPr lang="en-GB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one per FD &gt; 0.3 mm frame</a:t>
            </a:r>
            <a:br>
              <a:rPr lang="en-GB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1" lang="en-GB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GSR  (0/1) —</a:t>
            </a:r>
            <a:r>
              <a:rPr lang="en-GB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 global signal, present only in the +GSR version</a:t>
            </a:r>
            <a:endParaRPr>
              <a:solidFill>
                <a:srgbClr val="1A23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Clr>
                <a:srgbClr val="1A2332"/>
              </a:buClr>
              <a:buSzPts val="1400"/>
              <a:buFont typeface="Calibri"/>
              <a:buAutoNum type="arabicPeriod"/>
            </a:pPr>
            <a:r>
              <a:rPr b="1" lang="en-GB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Censor</a:t>
            </a:r>
            <a:endParaRPr b="1">
              <a:solidFill>
                <a:srgbClr val="1A23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High-motion frames (FD &gt; 0.3 mm) removed from the residual time series before filtering.</a:t>
            </a:r>
            <a:endParaRPr>
              <a:solidFill>
                <a:srgbClr val="1A23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A23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400"/>
              <a:buFont typeface="Calibri"/>
              <a:buAutoNum type="arabicPeriod"/>
            </a:pPr>
            <a:r>
              <a:rPr b="1" lang="en-GB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 Lomb-Scargle interpolation</a:t>
            </a:r>
            <a:endParaRPr b="1">
              <a:solidFill>
                <a:srgbClr val="1A23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Censored frames reconstructed by Lomb-Scargle interpolation.</a:t>
            </a:r>
            <a:endParaRPr>
              <a:solidFill>
                <a:srgbClr val="1A23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A23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400"/>
              <a:buFont typeface="Calibri"/>
              <a:buAutoNum type="arabicPeriod"/>
            </a:pPr>
            <a:r>
              <a:rPr b="1" lang="en-GB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 Bandpass 0.01–0.1 Hz</a:t>
            </a:r>
            <a:endParaRPr b="1">
              <a:solidFill>
                <a:srgbClr val="1A23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Applied via frequency-domain masking (out-of-band coefficients zeroed). No Butterworth filter — band-limiting is built into the LS reconstruction.</a:t>
            </a:r>
            <a:endParaRPr>
              <a:solidFill>
                <a:srgbClr val="1A23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2E4A6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92" name="Google Shape;292;p25"/>
          <p:cNvSpPr txBox="1"/>
          <p:nvPr/>
        </p:nvSpPr>
        <p:spPr>
          <a:xfrm>
            <a:off x="181595" y="5585730"/>
            <a:ext cx="8229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DF2F7"/>
        </a:solid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6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26"/>
          <p:cNvSpPr txBox="1"/>
          <p:nvPr/>
        </p:nvSpPr>
        <p:spPr>
          <a:xfrm>
            <a:off x="365760" y="73152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000" u="none" cap="none" strike="noStrike">
                <a:solidFill>
                  <a:srgbClr val="6B8F71"/>
                </a:solidFill>
                <a:latin typeface="Calibri"/>
                <a:ea typeface="Calibri"/>
                <a:cs typeface="Calibri"/>
                <a:sym typeface="Calibri"/>
              </a:rPr>
              <a:t>STEP 1 — MOTION QC</a:t>
            </a:r>
            <a:endParaRPr/>
          </a:p>
        </p:txBody>
      </p:sp>
      <p:sp>
        <p:nvSpPr>
          <p:cNvPr id="299" name="Google Shape;299;p26"/>
          <p:cNvSpPr txBox="1"/>
          <p:nvPr/>
        </p:nvSpPr>
        <p:spPr>
          <a:xfrm>
            <a:off x="365760" y="274320"/>
            <a:ext cx="8412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Subject Exclusion</a:t>
            </a:r>
            <a:endParaRPr/>
          </a:p>
        </p:txBody>
      </p:sp>
      <p:sp>
        <p:nvSpPr>
          <p:cNvPr id="300" name="Google Shape;300;p26"/>
          <p:cNvSpPr txBox="1"/>
          <p:nvPr/>
        </p:nvSpPr>
        <p:spPr>
          <a:xfrm>
            <a:off x="457300" y="2049600"/>
            <a:ext cx="82296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100" u="none" cap="none" strike="noStrike">
                <a:solidFill>
                  <a:srgbClr val="6B8F71"/>
                </a:solidFill>
                <a:latin typeface="Calibri"/>
                <a:ea typeface="Calibri"/>
                <a:cs typeface="Calibri"/>
                <a:sym typeface="Calibri"/>
              </a:rPr>
              <a:t>EXCLUSION RULE</a:t>
            </a:r>
            <a:endParaRPr/>
          </a:p>
        </p:txBody>
      </p:sp>
      <p:sp>
        <p:nvSpPr>
          <p:cNvPr id="301" name="Google Shape;301;p26"/>
          <p:cNvSpPr txBox="1"/>
          <p:nvPr/>
        </p:nvSpPr>
        <p:spPr>
          <a:xfrm>
            <a:off x="548740" y="2369640"/>
            <a:ext cx="82296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Any run with more than 50% of frames censored → the entire subject is excluded (within-subject design needs both sessions usable).</a:t>
            </a:r>
            <a:endParaRPr/>
          </a:p>
        </p:txBody>
      </p:sp>
      <p:sp>
        <p:nvSpPr>
          <p:cNvPr id="302" name="Google Shape;302;p26"/>
          <p:cNvSpPr txBox="1"/>
          <p:nvPr/>
        </p:nvSpPr>
        <p:spPr>
          <a:xfrm>
            <a:off x="457300" y="3329760"/>
            <a:ext cx="82296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100" u="none" cap="none" strike="noStrike">
                <a:solidFill>
                  <a:srgbClr val="6B8F71"/>
                </a:solidFill>
                <a:latin typeface="Calibri"/>
                <a:ea typeface="Calibri"/>
                <a:cs typeface="Calibri"/>
                <a:sym typeface="Calibri"/>
              </a:rPr>
              <a:t>EXCLUDED (5 SUBJECTS)</a:t>
            </a:r>
            <a:endParaRPr/>
          </a:p>
        </p:txBody>
      </p:sp>
      <p:sp>
        <p:nvSpPr>
          <p:cNvPr id="303" name="Google Shape;303;p26"/>
          <p:cNvSpPr txBox="1"/>
          <p:nvPr/>
        </p:nvSpPr>
        <p:spPr>
          <a:xfrm>
            <a:off x="548740" y="3649800"/>
            <a:ext cx="82296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50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sub-06, sub-08, sub-12, sub-26, sub-36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DF2F7"/>
        </a:soli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7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27"/>
          <p:cNvSpPr txBox="1"/>
          <p:nvPr/>
        </p:nvSpPr>
        <p:spPr>
          <a:xfrm>
            <a:off x="365760" y="73152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000" u="none" cap="none" strike="noStrike">
                <a:solidFill>
                  <a:srgbClr val="6B8F71"/>
                </a:solidFill>
                <a:latin typeface="Calibri"/>
                <a:ea typeface="Calibri"/>
                <a:cs typeface="Calibri"/>
                <a:sym typeface="Calibri"/>
              </a:rPr>
              <a:t>STEP 1 — MOTION QC</a:t>
            </a:r>
            <a:endParaRPr/>
          </a:p>
        </p:txBody>
      </p:sp>
      <p:sp>
        <p:nvSpPr>
          <p:cNvPr id="310" name="Google Shape;310;p27"/>
          <p:cNvSpPr txBox="1"/>
          <p:nvPr/>
        </p:nvSpPr>
        <p:spPr>
          <a:xfrm>
            <a:off x="365760" y="274320"/>
            <a:ext cx="84124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Framewise Displacement &amp; Censoring</a:t>
            </a:r>
            <a:endParaRPr/>
          </a:p>
        </p:txBody>
      </p:sp>
      <p:sp>
        <p:nvSpPr>
          <p:cNvPr id="311" name="Google Shape;311;p27"/>
          <p:cNvSpPr txBox="1"/>
          <p:nvPr/>
        </p:nvSpPr>
        <p:spPr>
          <a:xfrm>
            <a:off x="457200" y="109728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100" u="none" cap="none" strike="noStrike">
                <a:solidFill>
                  <a:srgbClr val="6B8F71"/>
                </a:solidFill>
                <a:latin typeface="Calibri"/>
                <a:ea typeface="Calibri"/>
                <a:cs typeface="Calibri"/>
                <a:sym typeface="Calibri"/>
              </a:rPr>
              <a:t>HOW FD IS COMPUTED</a:t>
            </a:r>
            <a:endParaRPr/>
          </a:p>
        </p:txBody>
      </p:sp>
      <p:sp>
        <p:nvSpPr>
          <p:cNvPr id="312" name="Google Shape;312;p27"/>
          <p:cNvSpPr txBox="1"/>
          <p:nvPr/>
        </p:nvSpPr>
        <p:spPr>
          <a:xfrm>
            <a:off x="548640" y="1417320"/>
            <a:ext cx="8229600" cy="5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0" i="0" lang="en-GB" sz="140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Power et al. (2012) FD, as produced by fMRIPrep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0" i="0" lang="en-GB" sz="140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1-TR backward differences of the 6 motion parameters; rotations on a 50 mm sphere</a:t>
            </a:r>
            <a:endParaRPr/>
          </a:p>
        </p:txBody>
      </p:sp>
      <p:sp>
        <p:nvSpPr>
          <p:cNvPr id="313" name="Google Shape;313;p27"/>
          <p:cNvSpPr txBox="1"/>
          <p:nvPr/>
        </p:nvSpPr>
        <p:spPr>
          <a:xfrm>
            <a:off x="457200" y="269748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100" u="none" cap="none" strike="noStrike">
                <a:solidFill>
                  <a:srgbClr val="6B8F71"/>
                </a:solidFill>
                <a:latin typeface="Calibri"/>
                <a:ea typeface="Calibri"/>
                <a:cs typeface="Calibri"/>
                <a:sym typeface="Calibri"/>
              </a:rPr>
              <a:t>FRAME CENSORING</a:t>
            </a:r>
            <a:endParaRPr/>
          </a:p>
        </p:txBody>
      </p:sp>
      <p:sp>
        <p:nvSpPr>
          <p:cNvPr id="314" name="Google Shape;314;p27"/>
          <p:cNvSpPr txBox="1"/>
          <p:nvPr/>
        </p:nvSpPr>
        <p:spPr>
          <a:xfrm>
            <a:off x="548640" y="3017520"/>
            <a:ext cx="8229600" cy="5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0" i="0" lang="en-GB" sz="140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Threshold: </a:t>
            </a:r>
            <a:r>
              <a:rPr b="1" i="0" lang="en-GB" sz="1400" u="none" cap="none" strike="noStrike">
                <a:solidFill>
                  <a:srgbClr val="2E4A6B"/>
                </a:solidFill>
                <a:latin typeface="Calibri"/>
                <a:ea typeface="Calibri"/>
                <a:cs typeface="Calibri"/>
                <a:sym typeface="Calibri"/>
              </a:rPr>
              <a:t>FD &gt; 0.3 mm</a:t>
            </a:r>
            <a:r>
              <a:rPr b="0" i="0" lang="en-GB" sz="140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  (Goldberg 2024)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0" i="0" lang="en-GB" sz="140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Respiratory filter tested via Power (2019) PSD of trans_y — no peaks, so not applied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DF2F7"/>
        </a:solidFill>
      </p:bgPr>
    </p:bg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8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28"/>
          <p:cNvSpPr txBox="1"/>
          <p:nvPr/>
        </p:nvSpPr>
        <p:spPr>
          <a:xfrm>
            <a:off x="365760" y="73152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000" u="none" cap="none" strike="noStrike">
                <a:solidFill>
                  <a:srgbClr val="6B8F71"/>
                </a:solidFill>
                <a:latin typeface="Calibri"/>
                <a:ea typeface="Calibri"/>
                <a:cs typeface="Calibri"/>
                <a:sym typeface="Calibri"/>
              </a:rPr>
              <a:t>STEP 2 — DENOISING</a:t>
            </a:r>
            <a:endParaRPr/>
          </a:p>
        </p:txBody>
      </p:sp>
      <p:sp>
        <p:nvSpPr>
          <p:cNvPr id="321" name="Google Shape;321;p28"/>
          <p:cNvSpPr txBox="1"/>
          <p:nvPr/>
        </p:nvSpPr>
        <p:spPr>
          <a:xfrm>
            <a:off x="365760" y="274320"/>
            <a:ext cx="84124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Outputs &amp; Batch Processing</a:t>
            </a:r>
            <a:endParaRPr/>
          </a:p>
        </p:txBody>
      </p:sp>
      <p:sp>
        <p:nvSpPr>
          <p:cNvPr id="322" name="Google Shape;322;p28"/>
          <p:cNvSpPr txBox="1"/>
          <p:nvPr/>
        </p:nvSpPr>
        <p:spPr>
          <a:xfrm>
            <a:off x="457200" y="114300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100" u="none" cap="none" strike="noStrike">
                <a:solidFill>
                  <a:srgbClr val="6B8F71"/>
                </a:solidFill>
                <a:latin typeface="Calibri"/>
                <a:ea typeface="Calibri"/>
                <a:cs typeface="Calibri"/>
                <a:sym typeface="Calibri"/>
              </a:rPr>
              <a:t>TWO VERSIONS PER RUN</a:t>
            </a:r>
            <a:endParaRPr/>
          </a:p>
        </p:txBody>
      </p:sp>
      <p:sp>
        <p:nvSpPr>
          <p:cNvPr id="323" name="Google Shape;323;p28"/>
          <p:cNvSpPr txBox="1"/>
          <p:nvPr/>
        </p:nvSpPr>
        <p:spPr>
          <a:xfrm>
            <a:off x="548640" y="1481328"/>
            <a:ext cx="82296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1" i="0" lang="en-GB" sz="140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desc-denoisedNoGSR_bold.nii.gz</a:t>
            </a:r>
            <a:r>
              <a:rPr b="0" i="0" lang="en-GB" sz="140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 — without global signal regression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1" i="0" lang="en-GB" sz="140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desc-denoisedGSR_bold.nii.gz</a:t>
            </a:r>
            <a:r>
              <a:rPr b="0" i="0" lang="en-GB" sz="140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 — with global signal regression</a:t>
            </a:r>
            <a:endParaRPr/>
          </a:p>
        </p:txBody>
      </p:sp>
      <p:sp>
        <p:nvSpPr>
          <p:cNvPr id="324" name="Google Shape;324;p28"/>
          <p:cNvSpPr txBox="1"/>
          <p:nvPr/>
        </p:nvSpPr>
        <p:spPr>
          <a:xfrm>
            <a:off x="548640" y="25146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5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Naming: sub-XX_ses-YY_task-rest_desc-…_bold.nii.gz (float32, zeros outside brain mask).</a:t>
            </a:r>
            <a:endParaRPr/>
          </a:p>
        </p:txBody>
      </p:sp>
      <p:sp>
        <p:nvSpPr>
          <p:cNvPr id="325" name="Google Shape;325;p28"/>
          <p:cNvSpPr txBox="1"/>
          <p:nvPr/>
        </p:nvSpPr>
        <p:spPr>
          <a:xfrm>
            <a:off x="457200" y="301752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100" u="none" cap="none" strike="noStrike">
                <a:solidFill>
                  <a:srgbClr val="6B8F71"/>
                </a:solidFill>
                <a:latin typeface="Calibri"/>
                <a:ea typeface="Calibri"/>
                <a:cs typeface="Calibri"/>
                <a:sym typeface="Calibri"/>
              </a:rPr>
              <a:t>BATCH RUN</a:t>
            </a:r>
            <a:endParaRPr/>
          </a:p>
        </p:txBody>
      </p:sp>
      <p:sp>
        <p:nvSpPr>
          <p:cNvPr id="326" name="Google Shape;326;p28"/>
          <p:cNvSpPr txBox="1"/>
          <p:nvPr/>
        </p:nvSpPr>
        <p:spPr>
          <a:xfrm>
            <a:off x="548640" y="333756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600" u="none" cap="none" strike="noStrike">
                <a:solidFill>
                  <a:srgbClr val="2E4A6B"/>
                </a:solidFill>
                <a:latin typeface="Calibri"/>
                <a:ea typeface="Calibri"/>
                <a:cs typeface="Calibri"/>
                <a:sym typeface="Calibri"/>
              </a:rPr>
              <a:t>70 runs processed</a:t>
            </a:r>
            <a:r>
              <a:rPr b="0" i="0" lang="en-GB" sz="160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  (35 subjects × 2 sessions)</a:t>
            </a:r>
            <a:endParaRPr/>
          </a:p>
        </p:txBody>
      </p:sp>
      <p:sp>
        <p:nvSpPr>
          <p:cNvPr id="327" name="Google Shape;327;p28"/>
          <p:cNvSpPr txBox="1"/>
          <p:nvPr/>
        </p:nvSpPr>
        <p:spPr>
          <a:xfrm>
            <a:off x="548640" y="3840480"/>
            <a:ext cx="82296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35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0" i="0" lang="en-GB" sz="135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Shared core logic in denoise_core.py; validated on sub-01 ses-01 test run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GB" sz="135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0" i="0" lang="en-GB" sz="135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Batch skips existing outputs; per-run log appended to _batch_log.tsv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DF2F7"/>
        </a:soli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29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29"/>
          <p:cNvSpPr txBox="1"/>
          <p:nvPr/>
        </p:nvSpPr>
        <p:spPr>
          <a:xfrm>
            <a:off x="365760" y="73152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000" u="none" cap="none" strike="noStrike">
                <a:solidFill>
                  <a:srgbClr val="6B8F71"/>
                </a:solidFill>
                <a:latin typeface="Calibri"/>
                <a:ea typeface="Calibri"/>
                <a:cs typeface="Calibri"/>
                <a:sym typeface="Calibri"/>
              </a:rPr>
              <a:t>STEP 3 — QUALITY CONTROL</a:t>
            </a:r>
            <a:endParaRPr/>
          </a:p>
        </p:txBody>
      </p:sp>
      <p:sp>
        <p:nvSpPr>
          <p:cNvPr id="334" name="Google Shape;334;p29"/>
          <p:cNvSpPr txBox="1"/>
          <p:nvPr/>
        </p:nvSpPr>
        <p:spPr>
          <a:xfrm>
            <a:off x="365760" y="274320"/>
            <a:ext cx="8412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DVARS </a:t>
            </a:r>
            <a:r>
              <a:rPr b="1" lang="en-GB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Denoising Validation</a:t>
            </a:r>
            <a:endParaRPr/>
          </a:p>
        </p:txBody>
      </p:sp>
      <p:sp>
        <p:nvSpPr>
          <p:cNvPr id="335" name="Google Shape;335;p29"/>
          <p:cNvSpPr txBox="1"/>
          <p:nvPr/>
        </p:nvSpPr>
        <p:spPr>
          <a:xfrm>
            <a:off x="457200" y="114300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100" u="none" cap="none" strike="noStrike">
                <a:solidFill>
                  <a:srgbClr val="6B8F71"/>
                </a:solidFill>
                <a:latin typeface="Calibri"/>
                <a:ea typeface="Calibri"/>
                <a:cs typeface="Calibri"/>
                <a:sym typeface="Calibri"/>
              </a:rPr>
              <a:t>METHOD</a:t>
            </a:r>
            <a:endParaRPr/>
          </a:p>
        </p:txBody>
      </p:sp>
      <p:sp>
        <p:nvSpPr>
          <p:cNvPr id="336" name="Google Shape;336;p29"/>
          <p:cNvSpPr txBox="1"/>
          <p:nvPr/>
        </p:nvSpPr>
        <p:spPr>
          <a:xfrm>
            <a:off x="548640" y="1463040"/>
            <a:ext cx="822960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0" i="0" lang="en-GB" sz="140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DVARS computed pre- vs post-denoising, compared across raw, −GSR and +GSR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0" i="0" lang="en-GB" sz="140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FD–DVARS coupling assessed (Pearson r)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0" i="0" lang="en-GB" sz="140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Low-motion (sub-01) and high-motion (sub-21) runs retained as evidence</a:t>
            </a:r>
            <a:endParaRPr/>
          </a:p>
        </p:txBody>
      </p:sp>
      <p:sp>
        <p:nvSpPr>
          <p:cNvPr id="337" name="Google Shape;337;p29"/>
          <p:cNvSpPr/>
          <p:nvPr/>
        </p:nvSpPr>
        <p:spPr>
          <a:xfrm>
            <a:off x="548640" y="3017520"/>
            <a:ext cx="8046720" cy="16916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C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29"/>
          <p:cNvSpPr txBox="1"/>
          <p:nvPr/>
        </p:nvSpPr>
        <p:spPr>
          <a:xfrm>
            <a:off x="548640" y="3703320"/>
            <a:ext cx="8046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[ DVARS figure — export sub-01 &amp; sub-21 panels from the server ]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DF2F7"/>
        </a:solidFill>
      </p:bgPr>
    </p:bg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30"/>
          <p:cNvSpPr/>
          <p:nvPr/>
        </p:nvSpPr>
        <p:spPr>
          <a:xfrm>
            <a:off x="0" y="0"/>
            <a:ext cx="9144000" cy="7773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30"/>
          <p:cNvSpPr txBox="1"/>
          <p:nvPr/>
        </p:nvSpPr>
        <p:spPr>
          <a:xfrm>
            <a:off x="365760" y="73152"/>
            <a:ext cx="8412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000" u="none" cap="none" strike="noStrike">
                <a:solidFill>
                  <a:srgbClr val="6B8F71"/>
                </a:solidFill>
                <a:latin typeface="Calibri"/>
                <a:ea typeface="Calibri"/>
                <a:cs typeface="Calibri"/>
                <a:sym typeface="Calibri"/>
              </a:rPr>
              <a:t>STEP </a:t>
            </a:r>
            <a:r>
              <a:rPr b="1" lang="en-GB" sz="1000">
                <a:solidFill>
                  <a:srgbClr val="6B8F7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b="1" i="0" lang="en-GB" sz="1000" u="none" cap="none" strike="noStrike">
                <a:solidFill>
                  <a:srgbClr val="6B8F71"/>
                </a:solidFill>
                <a:latin typeface="Calibri"/>
                <a:ea typeface="Calibri"/>
                <a:cs typeface="Calibri"/>
                <a:sym typeface="Calibri"/>
              </a:rPr>
              <a:t> — </a:t>
            </a:r>
            <a:r>
              <a:rPr b="1" lang="en-GB" sz="1000">
                <a:solidFill>
                  <a:srgbClr val="6B8F71"/>
                </a:solidFill>
                <a:latin typeface="Calibri"/>
                <a:ea typeface="Calibri"/>
                <a:cs typeface="Calibri"/>
                <a:sym typeface="Calibri"/>
              </a:rPr>
              <a:t>Parcels</a:t>
            </a:r>
            <a:endParaRPr/>
          </a:p>
        </p:txBody>
      </p:sp>
      <p:sp>
        <p:nvSpPr>
          <p:cNvPr id="345" name="Google Shape;345;p30"/>
          <p:cNvSpPr txBox="1"/>
          <p:nvPr/>
        </p:nvSpPr>
        <p:spPr>
          <a:xfrm>
            <a:off x="365760" y="274320"/>
            <a:ext cx="8412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Parcellation</a:t>
            </a:r>
            <a:endParaRPr/>
          </a:p>
        </p:txBody>
      </p:sp>
      <p:sp>
        <p:nvSpPr>
          <p:cNvPr id="346" name="Google Shape;346;p30"/>
          <p:cNvSpPr/>
          <p:nvPr/>
        </p:nvSpPr>
        <p:spPr>
          <a:xfrm>
            <a:off x="548640" y="3017520"/>
            <a:ext cx="8046600" cy="16917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C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30"/>
          <p:cNvSpPr txBox="1"/>
          <p:nvPr/>
        </p:nvSpPr>
        <p:spPr>
          <a:xfrm>
            <a:off x="548640" y="3703320"/>
            <a:ext cx="8046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[ DVARS figure — export sub-01 &amp; sub-21 panels from the server ]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DF2F7"/>
        </a:solidFill>
      </p:bgPr>
    </p:bg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3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6B8F7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31"/>
          <p:cNvSpPr txBox="1"/>
          <p:nvPr/>
        </p:nvSpPr>
        <p:spPr>
          <a:xfrm>
            <a:off x="493776" y="19202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200" u="none" cap="none" strike="noStrike">
                <a:solidFill>
                  <a:srgbClr val="6B8F71"/>
                </a:solidFill>
                <a:latin typeface="Calibri"/>
                <a:ea typeface="Calibri"/>
                <a:cs typeface="Calibri"/>
                <a:sym typeface="Calibri"/>
              </a:rPr>
              <a:t>RESULTS</a:t>
            </a:r>
            <a:endParaRPr/>
          </a:p>
        </p:txBody>
      </p:sp>
      <p:sp>
        <p:nvSpPr>
          <p:cNvPr id="355" name="Google Shape;355;p31"/>
          <p:cNvSpPr txBox="1"/>
          <p:nvPr/>
        </p:nvSpPr>
        <p:spPr>
          <a:xfrm>
            <a:off x="493776" y="2240280"/>
            <a:ext cx="8229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Analysis &amp; Findings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DF2F7"/>
        </a:solidFill>
      </p:bgPr>
    </p:bg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3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32"/>
          <p:cNvSpPr/>
          <p:nvPr/>
        </p:nvSpPr>
        <p:spPr>
          <a:xfrm>
            <a:off x="0" y="0"/>
            <a:ext cx="164700" cy="5143500"/>
          </a:xfrm>
          <a:prstGeom prst="rect">
            <a:avLst/>
          </a:prstGeom>
          <a:solidFill>
            <a:srgbClr val="6B8F7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32"/>
          <p:cNvSpPr txBox="1"/>
          <p:nvPr/>
        </p:nvSpPr>
        <p:spPr>
          <a:xfrm>
            <a:off x="493776" y="1920240"/>
            <a:ext cx="8229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200" u="none" cap="none" strike="noStrike">
                <a:solidFill>
                  <a:srgbClr val="6B8F71"/>
                </a:solidFill>
                <a:latin typeface="Calibri"/>
                <a:ea typeface="Calibri"/>
                <a:cs typeface="Calibri"/>
                <a:sym typeface="Calibri"/>
              </a:rPr>
              <a:t>RESULTS · PART 1</a:t>
            </a:r>
            <a:endParaRPr/>
          </a:p>
        </p:txBody>
      </p:sp>
      <p:sp>
        <p:nvSpPr>
          <p:cNvPr id="363" name="Google Shape;363;p32"/>
          <p:cNvSpPr txBox="1"/>
          <p:nvPr/>
        </p:nvSpPr>
        <p:spPr>
          <a:xfrm>
            <a:off x="493776" y="2240280"/>
            <a:ext cx="8229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Intrinsic Neural Timescales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DF2F7"/>
        </a:solidFill>
      </p:bgPr>
    </p:bg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33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33"/>
          <p:cNvSpPr txBox="1"/>
          <p:nvPr/>
        </p:nvSpPr>
        <p:spPr>
          <a:xfrm>
            <a:off x="365760" y="73152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000" u="none" cap="none" strike="noStrike">
                <a:solidFill>
                  <a:srgbClr val="6B8F71"/>
                </a:solidFill>
                <a:latin typeface="Calibri"/>
                <a:ea typeface="Calibri"/>
                <a:cs typeface="Calibri"/>
                <a:sym typeface="Calibri"/>
              </a:rPr>
              <a:t>INTRINSIC TIMESCALES — METHODS</a:t>
            </a:r>
            <a:endParaRPr/>
          </a:p>
        </p:txBody>
      </p:sp>
      <p:sp>
        <p:nvSpPr>
          <p:cNvPr id="370" name="Google Shape;370;p33"/>
          <p:cNvSpPr txBox="1"/>
          <p:nvPr/>
        </p:nvSpPr>
        <p:spPr>
          <a:xfrm>
            <a:off x="365760" y="274320"/>
            <a:ext cx="8412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ACW Calculation: τ vs AUC</a:t>
            </a:r>
            <a:endParaRPr/>
          </a:p>
        </p:txBody>
      </p:sp>
      <p:pic>
        <p:nvPicPr>
          <p:cNvPr id="373" name="Google Shape;373;p33"/>
          <p:cNvPicPr preferRelativeResize="0"/>
          <p:nvPr/>
        </p:nvPicPr>
        <p:blipFill rotWithShape="1">
          <a:blip r:embed="rId4">
            <a:alphaModFix/>
          </a:blip>
          <a:srcRect b="2501" l="-649" r="-822" t="4872"/>
          <a:stretch/>
        </p:blipFill>
        <p:spPr>
          <a:xfrm>
            <a:off x="4562856" y="932688"/>
            <a:ext cx="3857853" cy="1993392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3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606600" y="3127248"/>
            <a:ext cx="5747004" cy="1783080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TextBox 377"/>
          <p:cNvSpPr txBox="1"/>
          <p:nvPr/>
        </p:nvSpPr>
        <p:spPr>
          <a:xfrm>
            <a:off x="411480" y="960120"/>
            <a:ext cx="306324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B8F71"/>
                </a:solidFill>
                <a:latin typeface="Calibri"/>
              </a:rPr>
              <a:t>WHY AUC</a:t>
            </a:r>
          </a:p>
        </p:txBody>
      </p:sp>
      <p:sp>
        <p:nvSpPr>
          <p:cNvPr id="379" name="TextBox 378"/>
          <p:cNvSpPr txBox="1"/>
          <p:nvPr/>
        </p:nvSpPr>
        <p:spPr>
          <a:xfrm>
            <a:off x="411480" y="1298448"/>
            <a:ext cx="3063240" cy="1828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>τ and AUC both computed with IntrinsicTimescales.jl.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>τ showed spikes (~1 s, ~5.2 s) in susceptibility-dropout regions — flagged via tSNR and dropped.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>A residual spike persisted as an estimator artefact, so AUC is the primary measure.</a:t>
            </a:r>
          </a:p>
        </p:txBody>
      </p:sp>
      <p:sp>
        <p:nvSpPr>
          <p:cNvPr id="380" name="TextBox 379"/>
          <p:cNvSpPr txBox="1"/>
          <p:nvPr/>
        </p:nvSpPr>
        <p:spPr>
          <a:xfrm>
            <a:off x="4160520" y="2962656"/>
            <a:ext cx="466344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A6A7A"/>
                </a:solidFill>
                <a:latin typeface="Calibri"/>
              </a:rPr>
              <a:t>τ distribution — self vs non-self (spikes at ~1 s and ~5.2 s)</a:t>
            </a:r>
          </a:p>
        </p:txBody>
      </p:sp>
      <p:sp>
        <p:nvSpPr>
          <p:cNvPr id="381" name="TextBox 380"/>
          <p:cNvSpPr txBox="1"/>
          <p:nvPr/>
        </p:nvSpPr>
        <p:spPr>
          <a:xfrm>
            <a:off x="1554480" y="4937760"/>
            <a:ext cx="5852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A6A7A"/>
                </a:solidFill>
                <a:latin typeface="Calibri"/>
              </a:rPr>
              <a:t>Per-ROI ACF fit and MSE surface (example run)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DF2F7"/>
        </a:solidFill>
      </p:bgPr>
    </p:bg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34"/>
          <p:cNvSpPr/>
          <p:nvPr/>
        </p:nvSpPr>
        <p:spPr>
          <a:xfrm>
            <a:off x="0" y="0"/>
            <a:ext cx="9144000" cy="7773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34"/>
          <p:cNvSpPr txBox="1"/>
          <p:nvPr/>
        </p:nvSpPr>
        <p:spPr>
          <a:xfrm>
            <a:off x="365760" y="73152"/>
            <a:ext cx="8412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000" u="none" cap="none" strike="noStrike">
                <a:solidFill>
                  <a:srgbClr val="6B8F71"/>
                </a:solidFill>
                <a:latin typeface="Calibri"/>
                <a:ea typeface="Calibri"/>
                <a:cs typeface="Calibri"/>
                <a:sym typeface="Calibri"/>
              </a:rPr>
              <a:t>INTRINSIC TIMESCALES — DISTRIBUTION</a:t>
            </a:r>
            <a:endParaRPr/>
          </a:p>
        </p:txBody>
      </p:sp>
      <p:sp>
        <p:nvSpPr>
          <p:cNvPr id="384" name="Google Shape;384;p34"/>
          <p:cNvSpPr txBox="1"/>
          <p:nvPr/>
        </p:nvSpPr>
        <p:spPr>
          <a:xfrm>
            <a:off x="365760" y="274320"/>
            <a:ext cx="8412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AUC Distribution</a:t>
            </a:r>
            <a:endParaRPr/>
          </a:p>
        </p:txBody>
      </p:sp>
      <p:pic>
        <p:nvPicPr>
          <p:cNvPr id="387" name="Google Shape;387;p34" title="INT_selfVSnonself_pooled_density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63440" y="1239926"/>
            <a:ext cx="4069080" cy="3052267"/>
          </a:xfrm>
          <a:prstGeom prst="rect">
            <a:avLst/>
          </a:prstGeom>
          <a:noFill/>
          <a:ln>
            <a:noFill/>
          </a:ln>
        </p:spPr>
      </p:pic>
      <p:pic>
        <p:nvPicPr>
          <p:cNvPr id="388" name="Google Shape;388;p34" title="INT_overall_auc_density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1480" y="1239926"/>
            <a:ext cx="4069080" cy="3052267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TextBox 388"/>
          <p:cNvSpPr txBox="1"/>
          <p:nvPr/>
        </p:nvSpPr>
        <p:spPr>
          <a:xfrm>
            <a:off x="411480" y="4526280"/>
            <a:ext cx="832104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A6A7A"/>
                </a:solidFill>
                <a:latin typeface="Calibri"/>
              </a:rPr>
              <a:t>Overall AUC distribution (left) and by self-referential category, all parcels after tSNR exclusion (right)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DF2F7"/>
        </a:solidFill>
      </p:bgPr>
    </p:bg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35"/>
          <p:cNvSpPr/>
          <p:nvPr/>
        </p:nvSpPr>
        <p:spPr>
          <a:xfrm>
            <a:off x="0" y="0"/>
            <a:ext cx="9144000" cy="7773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35"/>
          <p:cNvSpPr txBox="1"/>
          <p:nvPr/>
        </p:nvSpPr>
        <p:spPr>
          <a:xfrm>
            <a:off x="365760" y="73152"/>
            <a:ext cx="8412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000" u="none" cap="none" strike="noStrike">
                <a:solidFill>
                  <a:srgbClr val="6B8F71"/>
                </a:solidFill>
                <a:latin typeface="Calibri"/>
                <a:ea typeface="Calibri"/>
                <a:cs typeface="Calibri"/>
                <a:sym typeface="Calibri"/>
              </a:rPr>
              <a:t>INTRINSIC TIMESCALES — MODEL</a:t>
            </a:r>
            <a:endParaRPr/>
          </a:p>
        </p:txBody>
      </p:sp>
      <p:sp>
        <p:nvSpPr>
          <p:cNvPr id="395" name="Google Shape;395;p35"/>
          <p:cNvSpPr txBox="1"/>
          <p:nvPr/>
        </p:nvSpPr>
        <p:spPr>
          <a:xfrm>
            <a:off x="365760" y="274320"/>
            <a:ext cx="8412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Parcel-level Mixed Model</a:t>
            </a:r>
            <a:endParaRPr/>
          </a:p>
        </p:txBody>
      </p:sp>
      <p:sp>
        <p:nvSpPr>
          <p:cNvPr id="396" name="Google Shape;396;p35"/>
          <p:cNvSpPr txBox="1"/>
          <p:nvPr/>
        </p:nvSpPr>
        <p:spPr>
          <a:xfrm>
            <a:off x="457200" y="1078992"/>
            <a:ext cx="82296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100" u="none" cap="none" strike="noStrike">
                <a:solidFill>
                  <a:srgbClr val="6B8F71"/>
                </a:solidFill>
                <a:latin typeface="Calibri"/>
                <a:ea typeface="Calibri"/>
                <a:cs typeface="Calibri"/>
                <a:sym typeface="Calibri"/>
              </a:rPr>
              <a:t>TWO METRICS, FITTED AT THE PARCEL LEVEL</a:t>
            </a:r>
            <a:endParaRPr/>
          </a:p>
        </p:txBody>
      </p:sp>
      <p:sp>
        <p:nvSpPr>
          <p:cNvPr id="397" name="Google Shape;397;p35"/>
          <p:cNvSpPr txBox="1"/>
          <p:nvPr/>
        </p:nvSpPr>
        <p:spPr>
          <a:xfrm>
            <a:off x="548640" y="1389888"/>
            <a:ext cx="8229600" cy="5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1" i="0" lang="en-GB" sz="140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Intrinsic timescale (ACW-AUC, s)</a:t>
            </a:r>
            <a:r>
              <a:rPr b="0" i="0" lang="en-GB" sz="140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 — how long BOLD stays autocorrelated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35"/>
          <p:cNvSpPr txBox="1"/>
          <p:nvPr/>
        </p:nvSpPr>
        <p:spPr>
          <a:xfrm>
            <a:off x="457200" y="2542032"/>
            <a:ext cx="82296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100" u="none" cap="none" strike="noStrike">
                <a:solidFill>
                  <a:srgbClr val="6B8F71"/>
                </a:solidFill>
                <a:latin typeface="Calibri"/>
                <a:ea typeface="Calibri"/>
                <a:cs typeface="Calibri"/>
                <a:sym typeface="Calibri"/>
              </a:rPr>
              <a:t>MODELS (ONE ROW PER SUBJECT × SESSION × PARCEL)</a:t>
            </a:r>
            <a:endParaRPr/>
          </a:p>
        </p:txBody>
      </p:sp>
      <p:sp>
        <p:nvSpPr>
          <p:cNvPr id="399" name="Google Shape;399;p35"/>
          <p:cNvSpPr txBox="1"/>
          <p:nvPr/>
        </p:nvSpPr>
        <p:spPr>
          <a:xfrm>
            <a:off x="548640" y="2852928"/>
            <a:ext cx="8229600" cy="5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1" i="0" lang="en-GB" sz="140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ACW: </a:t>
            </a:r>
            <a:r>
              <a:rPr b="0" i="0" lang="en-GB" sz="140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auc ~ group×session×category + (1+session | subject) + (1 | subject:parcel)</a:t>
            </a:r>
            <a:r>
              <a:rPr b="0" i="0" lang="en-GB" sz="140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  — Kenward-Roger df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35"/>
          <p:cNvSpPr txBox="1"/>
          <p:nvPr/>
        </p:nvSpPr>
        <p:spPr>
          <a:xfrm>
            <a:off x="548640" y="4343400"/>
            <a:ext cx="8229600" cy="3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Random effects now partition subject and parcel variance. 58 low-tSNR parcels excluded. Drug effect = (verum pre→post) − (placebo pre→post), FDR across the 4 categories.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DF2F7"/>
        </a:solidFill>
      </p:bgPr>
    </p:bg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36"/>
          <p:cNvSpPr/>
          <p:nvPr/>
        </p:nvSpPr>
        <p:spPr>
          <a:xfrm>
            <a:off x="0" y="0"/>
            <a:ext cx="9144000" cy="7773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36"/>
          <p:cNvSpPr txBox="1"/>
          <p:nvPr/>
        </p:nvSpPr>
        <p:spPr>
          <a:xfrm>
            <a:off x="365760" y="73152"/>
            <a:ext cx="8412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000" u="none" cap="none" strike="noStrike">
                <a:solidFill>
                  <a:srgbClr val="6B8F71"/>
                </a:solidFill>
                <a:latin typeface="Calibri"/>
                <a:ea typeface="Calibri"/>
                <a:cs typeface="Calibri"/>
                <a:sym typeface="Calibri"/>
              </a:rPr>
              <a:t>INTRINSIC TIMESCALES — DIAGNOSTICS</a:t>
            </a:r>
            <a:endParaRPr/>
          </a:p>
        </p:txBody>
      </p:sp>
      <p:sp>
        <p:nvSpPr>
          <p:cNvPr id="407" name="Google Shape;407;p36"/>
          <p:cNvSpPr txBox="1"/>
          <p:nvPr/>
        </p:nvSpPr>
        <p:spPr>
          <a:xfrm>
            <a:off x="365760" y="274320"/>
            <a:ext cx="8412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Mixed-Model Diagnostics (QC)</a:t>
            </a:r>
            <a:endParaRPr/>
          </a:p>
        </p:txBody>
      </p:sp>
      <p:pic>
        <p:nvPicPr>
          <p:cNvPr id="408" name="Google Shape;408;p36" title="INT_QC_residuals_by_category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51099" y="2971800"/>
            <a:ext cx="3440887" cy="196596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9" name="Google Shape;409;p36" title="INT_QC_combined_lmm_diagnostics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62048" y="960120"/>
            <a:ext cx="5620816" cy="1874519"/>
          </a:xfrm>
          <a:prstGeom prst="rect">
            <a:avLst/>
          </a:prstGeom>
          <a:noFill/>
          <a:ln>
            <a:noFill/>
          </a:ln>
        </p:spPr>
      </p:pic>
      <p:sp>
        <p:nvSpPr>
          <p:cNvPr id="410" name="TextBox 409"/>
          <p:cNvSpPr txBox="1"/>
          <p:nvPr/>
        </p:nvSpPr>
        <p:spPr>
          <a:xfrm>
            <a:off x="320040" y="4956048"/>
            <a:ext cx="85039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A6A7A"/>
                </a:solidFill>
                <a:latin typeface="Calibri"/>
              </a:rPr>
              <a:t>QQ / residuals-vs-fitted / histogram (top); QQ by category (bottom)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DF2F7"/>
        </a:solidFill>
      </p:bgPr>
    </p:bg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37"/>
          <p:cNvSpPr/>
          <p:nvPr/>
        </p:nvSpPr>
        <p:spPr>
          <a:xfrm>
            <a:off x="0" y="0"/>
            <a:ext cx="9144000" cy="7773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37"/>
          <p:cNvSpPr txBox="1"/>
          <p:nvPr/>
        </p:nvSpPr>
        <p:spPr>
          <a:xfrm>
            <a:off x="365760" y="73152"/>
            <a:ext cx="8412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000" u="none" cap="none" strike="noStrike">
                <a:solidFill>
                  <a:srgbClr val="6B8F71"/>
                </a:solidFill>
                <a:latin typeface="Calibri"/>
                <a:ea typeface="Calibri"/>
                <a:cs typeface="Calibri"/>
                <a:sym typeface="Calibri"/>
              </a:rPr>
              <a:t>INTRINSIC TIMESCALES — BASELINE</a:t>
            </a:r>
            <a:endParaRPr/>
          </a:p>
        </p:txBody>
      </p:sp>
      <p:sp>
        <p:nvSpPr>
          <p:cNvPr id="416" name="Google Shape;416;p37"/>
          <p:cNvSpPr txBox="1"/>
          <p:nvPr/>
        </p:nvSpPr>
        <p:spPr>
          <a:xfrm>
            <a:off x="365760" y="274320"/>
            <a:ext cx="8412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Baseline Balance (Pre-retreat)</a:t>
            </a:r>
            <a:endParaRPr/>
          </a:p>
        </p:txBody>
      </p:sp>
      <p:pic>
        <p:nvPicPr>
          <p:cNvPr id="417" name="Google Shape;417;p37" title="INT_QC_baseline_balance_poole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7024" y="1005840"/>
            <a:ext cx="3124504" cy="3749039"/>
          </a:xfrm>
          <a:prstGeom prst="rect">
            <a:avLst/>
          </a:prstGeom>
          <a:noFill/>
          <a:ln>
            <a:noFill/>
          </a:ln>
        </p:spPr>
      </p:pic>
      <p:pic>
        <p:nvPicPr>
          <p:cNvPr id="418" name="Google Shape;418;p37" title="INT_QC_baseline_balance_per_category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11472" y="1005840"/>
            <a:ext cx="4687214" cy="37490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DF2F7"/>
        </a:solidFill>
      </p:bgPr>
    </p:bg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38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38"/>
          <p:cNvSpPr txBox="1"/>
          <p:nvPr/>
        </p:nvSpPr>
        <p:spPr>
          <a:xfrm>
            <a:off x="365760" y="73152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000" u="none" cap="none" strike="noStrike">
                <a:solidFill>
                  <a:srgbClr val="6B8F71"/>
                </a:solidFill>
                <a:latin typeface="Calibri"/>
                <a:ea typeface="Calibri"/>
                <a:cs typeface="Calibri"/>
                <a:sym typeface="Calibri"/>
              </a:rPr>
              <a:t>INTRINSIC TIMESCALES — RETREAT</a:t>
            </a:r>
            <a:endParaRPr/>
          </a:p>
        </p:txBody>
      </p:sp>
      <p:sp>
        <p:nvSpPr>
          <p:cNvPr id="425" name="Google Shape;425;p38"/>
          <p:cNvSpPr txBox="1"/>
          <p:nvPr/>
        </p:nvSpPr>
        <p:spPr>
          <a:xfrm>
            <a:off x="365760" y="274320"/>
            <a:ext cx="8412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Meditation Retreat Effect (Placebo)</a:t>
            </a:r>
            <a:endParaRPr/>
          </a:p>
        </p:txBody>
      </p:sp>
      <p:pic>
        <p:nvPicPr>
          <p:cNvPr id="426" name="Google Shape;426;p38" title="INT_retreat_per_category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85746" y="932688"/>
            <a:ext cx="4973421" cy="39776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DF2F7"/>
        </a:solidFill>
      </p:bgPr>
    </p:bg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39"/>
          <p:cNvSpPr/>
          <p:nvPr/>
        </p:nvSpPr>
        <p:spPr>
          <a:xfrm>
            <a:off x="0" y="0"/>
            <a:ext cx="9144000" cy="7773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39"/>
          <p:cNvSpPr txBox="1"/>
          <p:nvPr/>
        </p:nvSpPr>
        <p:spPr>
          <a:xfrm>
            <a:off x="365760" y="73152"/>
            <a:ext cx="8412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000" u="none" cap="none" strike="noStrike">
                <a:solidFill>
                  <a:srgbClr val="6B8F71"/>
                </a:solidFill>
                <a:latin typeface="Calibri"/>
                <a:ea typeface="Calibri"/>
                <a:cs typeface="Calibri"/>
                <a:sym typeface="Calibri"/>
              </a:rPr>
              <a:t>INTRINSIC TIMESCALES — DRUG</a:t>
            </a:r>
            <a:endParaRPr/>
          </a:p>
        </p:txBody>
      </p:sp>
      <p:sp>
        <p:nvSpPr>
          <p:cNvPr id="433" name="Google Shape;433;p39"/>
          <p:cNvSpPr txBox="1"/>
          <p:nvPr/>
        </p:nvSpPr>
        <p:spPr>
          <a:xfrm>
            <a:off x="365760" y="274320"/>
            <a:ext cx="8412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 → Post AUC by Drug Group</a:t>
            </a:r>
            <a:endParaRPr/>
          </a:p>
        </p:txBody>
      </p:sp>
      <p:pic>
        <p:nvPicPr>
          <p:cNvPr id="434" name="Google Shape;434;p39" title="INT_retreat_paired_prepos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60320" y="914400"/>
            <a:ext cx="4023360" cy="40233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DF2F7"/>
        </a:solidFill>
      </p:bgPr>
    </p:bg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4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40"/>
          <p:cNvSpPr txBox="1"/>
          <p:nvPr/>
        </p:nvSpPr>
        <p:spPr>
          <a:xfrm>
            <a:off x="365760" y="73152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000" u="none" cap="none" strike="noStrike">
                <a:solidFill>
                  <a:srgbClr val="6B8F71"/>
                </a:solidFill>
                <a:latin typeface="Calibri"/>
                <a:ea typeface="Calibri"/>
                <a:cs typeface="Calibri"/>
                <a:sym typeface="Calibri"/>
              </a:rPr>
              <a:t>INTRINSIC TIMESCALES — PRIMARY</a:t>
            </a:r>
            <a:endParaRPr/>
          </a:p>
        </p:txBody>
      </p:sp>
      <p:sp>
        <p:nvSpPr>
          <p:cNvPr id="441" name="Google Shape;441;p40"/>
          <p:cNvSpPr txBox="1"/>
          <p:nvPr/>
        </p:nvSpPr>
        <p:spPr>
          <a:xfrm>
            <a:off x="365760" y="274320"/>
            <a:ext cx="84124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Interoceptive Self ↔ Sensory-Motor Convergence</a:t>
            </a:r>
            <a:endParaRPr/>
          </a:p>
        </p:txBody>
      </p:sp>
      <p:pic>
        <p:nvPicPr>
          <p:cNvPr descr="INT_intero_somato_trajectories.png" id="442" name="Google Shape;442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5196" y="960120"/>
            <a:ext cx="5779008" cy="3611880"/>
          </a:xfrm>
          <a:prstGeom prst="rect">
            <a:avLst/>
          </a:prstGeom>
          <a:noFill/>
          <a:ln>
            <a:noFill/>
          </a:ln>
        </p:spPr>
      </p:pic>
      <p:sp>
        <p:nvSpPr>
          <p:cNvPr id="443" name="Google Shape;443;p40"/>
          <p:cNvSpPr txBox="1"/>
          <p:nvPr/>
        </p:nvSpPr>
        <p:spPr>
          <a:xfrm>
            <a:off x="6400800" y="1143000"/>
            <a:ext cx="2514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20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Primary finding.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i="0" sz="1200" u="none" cap="none" strike="noStrike">
              <a:solidFill>
                <a:srgbClr val="1A23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GB" sz="120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Under placebo the Sensory-Motor–Interoceptive gap widens post-retreat; under DMT it does not.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5A6A7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GB" sz="1200" u="none" cap="none" strike="noStrike">
                <a:solidFill>
                  <a:srgbClr val="2E4A6B"/>
                </a:solidFill>
                <a:latin typeface="Calibri"/>
                <a:ea typeface="Calibri"/>
                <a:cs typeface="Calibri"/>
                <a:sym typeface="Calibri"/>
              </a:rPr>
              <a:t>Gap × time × drug contrast: −0.167, p=0.002.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GB" sz="120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3-way group×session×category F=3.8, p=0.010.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DF2F7"/>
        </a:solidFill>
      </p:bgPr>
    </p:bg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41"/>
          <p:cNvSpPr/>
          <p:nvPr/>
        </p:nvSpPr>
        <p:spPr>
          <a:xfrm>
            <a:off x="0" y="0"/>
            <a:ext cx="9144000" cy="7773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41"/>
          <p:cNvSpPr txBox="1"/>
          <p:nvPr/>
        </p:nvSpPr>
        <p:spPr>
          <a:xfrm>
            <a:off x="365760" y="73152"/>
            <a:ext cx="8412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000" u="none" cap="none" strike="noStrike">
                <a:solidFill>
                  <a:srgbClr val="6B8F71"/>
                </a:solidFill>
                <a:latin typeface="Calibri"/>
                <a:ea typeface="Calibri"/>
                <a:cs typeface="Calibri"/>
                <a:sym typeface="Calibri"/>
              </a:rPr>
              <a:t>RESULTS — APPROACH</a:t>
            </a:r>
            <a:endParaRPr/>
          </a:p>
        </p:txBody>
      </p:sp>
      <p:sp>
        <p:nvSpPr>
          <p:cNvPr id="450" name="Google Shape;450;p41"/>
          <p:cNvSpPr txBox="1"/>
          <p:nvPr/>
        </p:nvSpPr>
        <p:spPr>
          <a:xfrm>
            <a:off x="365760" y="274320"/>
            <a:ext cx="8412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Parcel-level Mixed Models</a:t>
            </a:r>
            <a:endParaRPr/>
          </a:p>
        </p:txBody>
      </p:sp>
      <p:sp>
        <p:nvSpPr>
          <p:cNvPr id="451" name="Google Shape;451;p41"/>
          <p:cNvSpPr txBox="1"/>
          <p:nvPr/>
        </p:nvSpPr>
        <p:spPr>
          <a:xfrm>
            <a:off x="457200" y="1078992"/>
            <a:ext cx="82296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100" u="none" cap="none" strike="noStrike">
                <a:solidFill>
                  <a:srgbClr val="6B8F71"/>
                </a:solidFill>
                <a:latin typeface="Calibri"/>
                <a:ea typeface="Calibri"/>
                <a:cs typeface="Calibri"/>
                <a:sym typeface="Calibri"/>
              </a:rPr>
              <a:t>TWO METRICS, FITTED AT THE PARCEL LEVEL</a:t>
            </a:r>
            <a:endParaRPr/>
          </a:p>
        </p:txBody>
      </p:sp>
      <p:sp>
        <p:nvSpPr>
          <p:cNvPr id="452" name="Google Shape;452;p41"/>
          <p:cNvSpPr txBox="1"/>
          <p:nvPr/>
        </p:nvSpPr>
        <p:spPr>
          <a:xfrm>
            <a:off x="548640" y="1389888"/>
            <a:ext cx="8229600" cy="5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1" i="0" lang="en-GB" sz="140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Intrinsic timescale (ACW-AUC, s)</a:t>
            </a:r>
            <a:r>
              <a:rPr b="0" i="0" lang="en-GB" sz="140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 — how long BOLD stays autocorrelated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1" i="0" lang="en-GB" sz="140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Sample entropy (SampEn)</a:t>
            </a:r>
            <a:r>
              <a:rPr b="0" i="0" lang="en-GB" sz="140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 — signal complexity / irregularity</a:t>
            </a:r>
            <a:endParaRPr/>
          </a:p>
        </p:txBody>
      </p:sp>
      <p:sp>
        <p:nvSpPr>
          <p:cNvPr id="453" name="Google Shape;453;p41"/>
          <p:cNvSpPr txBox="1"/>
          <p:nvPr/>
        </p:nvSpPr>
        <p:spPr>
          <a:xfrm>
            <a:off x="457200" y="2542032"/>
            <a:ext cx="82296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100" u="none" cap="none" strike="noStrike">
                <a:solidFill>
                  <a:srgbClr val="6B8F71"/>
                </a:solidFill>
                <a:latin typeface="Calibri"/>
                <a:ea typeface="Calibri"/>
                <a:cs typeface="Calibri"/>
                <a:sym typeface="Calibri"/>
              </a:rPr>
              <a:t>MODELS (ONE ROW PER SUBJECT × SESSION × PARCEL)</a:t>
            </a:r>
            <a:endParaRPr/>
          </a:p>
        </p:txBody>
      </p:sp>
      <p:sp>
        <p:nvSpPr>
          <p:cNvPr id="454" name="Google Shape;454;p41"/>
          <p:cNvSpPr txBox="1"/>
          <p:nvPr/>
        </p:nvSpPr>
        <p:spPr>
          <a:xfrm>
            <a:off x="548640" y="2852928"/>
            <a:ext cx="8229600" cy="5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1" i="0" lang="en-GB" sz="140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ACW: </a:t>
            </a:r>
            <a:r>
              <a:rPr b="0" i="0" lang="en-GB" sz="140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auc ~ group×session×category + (1+session | subject) + (1 | subject:parcel)</a:t>
            </a:r>
            <a:r>
              <a:rPr b="0" i="0" lang="en-GB" sz="140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  — Kenward-Roger df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1" i="0" lang="en-GB" sz="140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SampEn: </a:t>
            </a:r>
            <a:r>
              <a:rPr b="0" i="0" lang="en-GB" sz="140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sampen ~ session×group×self_layer + (1 | subject) + (1 | parcel)</a:t>
            </a:r>
            <a:r>
              <a:rPr b="0" i="0" lang="en-GB" sz="140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  — Satterthwaite df</a:t>
            </a:r>
            <a:endParaRPr/>
          </a:p>
        </p:txBody>
      </p:sp>
      <p:sp>
        <p:nvSpPr>
          <p:cNvPr id="455" name="Google Shape;455;p41"/>
          <p:cNvSpPr txBox="1"/>
          <p:nvPr/>
        </p:nvSpPr>
        <p:spPr>
          <a:xfrm>
            <a:off x="548640" y="4343400"/>
            <a:ext cx="8229600" cy="3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Random effects now partition subject and parcel variance. 58 low-tSNR parcels excluded. Drug effect = (verum pre→post) − (placebo pre→post), FDR across the 4 categories.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DF2F7"/>
        </a:solidFill>
      </p:bgPr>
    </p:bg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42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42"/>
          <p:cNvSpPr txBox="1"/>
          <p:nvPr/>
        </p:nvSpPr>
        <p:spPr>
          <a:xfrm>
            <a:off x="365760" y="73152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000" u="none" cap="none" strike="noStrike">
                <a:solidFill>
                  <a:srgbClr val="6B8F71"/>
                </a:solidFill>
                <a:latin typeface="Calibri"/>
                <a:ea typeface="Calibri"/>
                <a:cs typeface="Calibri"/>
                <a:sym typeface="Calibri"/>
              </a:rPr>
              <a:t>RESULTS — DMT · SAMPLE ENTROPY</a:t>
            </a:r>
            <a:endParaRPr/>
          </a:p>
        </p:txBody>
      </p:sp>
      <p:sp>
        <p:nvSpPr>
          <p:cNvPr id="462" name="Google Shape;462;p42"/>
          <p:cNvSpPr txBox="1"/>
          <p:nvPr/>
        </p:nvSpPr>
        <p:spPr>
          <a:xfrm>
            <a:off x="365760" y="274320"/>
            <a:ext cx="84124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DMT Increases Sample Entropy</a:t>
            </a:r>
            <a:endParaRPr/>
          </a:p>
        </p:txBody>
      </p:sp>
      <p:pic>
        <p:nvPicPr>
          <p:cNvPr descr="SampEn_drug_PATCHED.png" id="463" name="Google Shape;463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9297" y="960120"/>
            <a:ext cx="4876525" cy="3611880"/>
          </a:xfrm>
          <a:prstGeom prst="rect">
            <a:avLst/>
          </a:prstGeom>
          <a:noFill/>
          <a:ln>
            <a:noFill/>
          </a:ln>
        </p:spPr>
      </p:pic>
      <p:sp>
        <p:nvSpPr>
          <p:cNvPr id="464" name="Google Shape;464;p42"/>
          <p:cNvSpPr txBox="1"/>
          <p:nvPr/>
        </p:nvSpPr>
        <p:spPr>
          <a:xfrm>
            <a:off x="6446520" y="1143000"/>
            <a:ext cx="2468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20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Strong drug × session interaction: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GB" sz="120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F(1,9406)=17.7, p=2.6e-5.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5A6A7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GB" sz="120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Verum &gt; placebo, surviving FDR in: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GB" sz="1200" u="none" cap="none" strike="noStrike">
                <a:solidFill>
                  <a:srgbClr val="2E4A6B"/>
                </a:solidFill>
                <a:latin typeface="Calibri"/>
                <a:ea typeface="Calibri"/>
                <a:cs typeface="Calibri"/>
                <a:sym typeface="Calibri"/>
              </a:rPr>
              <a:t>Exteroceptive Self (q=0.017) and Mental Self (q=0.017).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DF2F7"/>
        </a:solidFill>
      </p:bgPr>
    </p:bg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43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43"/>
          <p:cNvSpPr txBox="1"/>
          <p:nvPr/>
        </p:nvSpPr>
        <p:spPr>
          <a:xfrm>
            <a:off x="365760" y="73152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000" u="none" cap="none" strike="noStrike">
                <a:solidFill>
                  <a:srgbClr val="6B8F71"/>
                </a:solidFill>
                <a:latin typeface="Calibri"/>
                <a:ea typeface="Calibri"/>
                <a:cs typeface="Calibri"/>
                <a:sym typeface="Calibri"/>
              </a:rPr>
              <a:t>RESULTS — SUMMARY</a:t>
            </a:r>
            <a:endParaRPr/>
          </a:p>
        </p:txBody>
      </p:sp>
      <p:sp>
        <p:nvSpPr>
          <p:cNvPr id="471" name="Google Shape;471;p43"/>
          <p:cNvSpPr txBox="1"/>
          <p:nvPr/>
        </p:nvSpPr>
        <p:spPr>
          <a:xfrm>
            <a:off x="365760" y="274320"/>
            <a:ext cx="84124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the Two Metrics Show</a:t>
            </a:r>
            <a:endParaRPr/>
          </a:p>
        </p:txBody>
      </p:sp>
      <p:graphicFrame>
        <p:nvGraphicFramePr>
          <p:cNvPr id="472" name="Google Shape;472;p43"/>
          <p:cNvGraphicFramePr/>
          <p:nvPr/>
        </p:nvGraphicFramePr>
        <p:xfrm>
          <a:off x="457200" y="118872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{2EE6EC1F-E288-4722-AA9E-F200959004B1}</a:tableStyleId>
              </a:tblPr>
              <a:tblGrid>
                <a:gridCol w="2286000"/>
                <a:gridCol w="3200400"/>
                <a:gridCol w="2743200"/>
              </a:tblGrid>
              <a:tr h="662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73150" marL="109725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Intrinsic timescale (ACW)</a:t>
                      </a:r>
                      <a:endParaRPr/>
                    </a:p>
                  </a:txBody>
                  <a:tcPr marT="36575" marB="36575" marR="73150" marL="109725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Sample entropy</a:t>
                      </a:r>
                      <a:endParaRPr/>
                    </a:p>
                  </a:txBody>
                  <a:tcPr marT="36575" marB="36575" marR="73150" marL="109725" anchor="ctr">
                    <a:solidFill>
                      <a:srgbClr val="1B2A4A"/>
                    </a:solidFill>
                  </a:tcPr>
                </a:tc>
              </a:tr>
              <a:tr h="662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50" u="none" cap="none" strike="noStrike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Self vs non-self</a:t>
                      </a:r>
                      <a:endParaRPr/>
                    </a:p>
                  </a:txBody>
                  <a:tcPr marT="36575" marB="36575" marR="73150" marL="109725"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u="none" cap="none" strike="noStrike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Yes  (F=70.8, p&lt;1e-44)</a:t>
                      </a:r>
                      <a:endParaRPr/>
                    </a:p>
                  </a:txBody>
                  <a:tcPr marT="36575" marB="36575" marR="73150" marL="109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u="none" cap="none" strike="noStrike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n.s. (parcel-adjusted)</a:t>
                      </a:r>
                      <a:endParaRPr/>
                    </a:p>
                  </a:txBody>
                  <a:tcPr marT="36575" marB="36575" marR="73150" marL="109725" anchor="ctr">
                    <a:solidFill>
                      <a:srgbClr val="FFFFFF"/>
                    </a:solidFill>
                  </a:tcPr>
                </a:tc>
              </a:tr>
              <a:tr h="662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50" u="none" cap="none" strike="noStrike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Meditation retreat</a:t>
                      </a:r>
                      <a:endParaRPr/>
                    </a:p>
                  </a:txBody>
                  <a:tcPr marT="36575" marB="36575" marR="73150" marL="109725"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u="none" cap="none" strike="noStrike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Yes — lengthens  (p=0.006)</a:t>
                      </a:r>
                      <a:endParaRPr/>
                    </a:p>
                  </a:txBody>
                  <a:tcPr marT="36575" marB="36575" marR="73150" marL="109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u="none" cap="none" strike="noStrike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  (placebo flat)</a:t>
                      </a:r>
                      <a:endParaRPr/>
                    </a:p>
                  </a:txBody>
                  <a:tcPr marT="36575" marB="36575" marR="73150" marL="109725" anchor="ctr">
                    <a:solidFill>
                      <a:srgbClr val="FFFFFF"/>
                    </a:solidFill>
                  </a:tcPr>
                </a:tc>
              </a:tr>
              <a:tr h="662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50" u="none" cap="none" strike="noStrike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DMT (drug)</a:t>
                      </a:r>
                      <a:endParaRPr/>
                    </a:p>
                  </a:txBody>
                  <a:tcPr marT="36575" marB="36575" marR="73150" marL="109725"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u="none" cap="none" strike="noStrike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Intero–SensoryMotor gap</a:t>
                      </a:r>
                      <a:br>
                        <a:rPr lang="en-GB" sz="1200" u="none" cap="none" strike="noStrike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lang="en-GB" sz="1200" u="none" cap="none" strike="noStrike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converges  (p=0.002)</a:t>
                      </a:r>
                      <a:endParaRPr/>
                    </a:p>
                  </a:txBody>
                  <a:tcPr marT="36575" marB="36575" marR="73150" marL="109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u="none" cap="none" strike="noStrike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Increases — Extero &amp;</a:t>
                      </a:r>
                      <a:br>
                        <a:rPr lang="en-GB" sz="1200" u="none" cap="none" strike="noStrike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lang="en-GB" sz="1200" u="none" cap="none" strike="noStrike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Mental Self  (q=0.017)</a:t>
                      </a:r>
                      <a:endParaRPr/>
                    </a:p>
                  </a:txBody>
                  <a:tcPr marT="36575" marB="36575" marR="73150" marL="1097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73" name="Google Shape;473;p43"/>
          <p:cNvSpPr txBox="1"/>
          <p:nvPr/>
        </p:nvSpPr>
        <p:spPr>
          <a:xfrm>
            <a:off x="457200" y="406908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350" u="none" cap="none" strike="noStrike">
                <a:solidFill>
                  <a:srgbClr val="2E4A6B"/>
                </a:solidFill>
                <a:latin typeface="Calibri"/>
                <a:ea typeface="Calibri"/>
                <a:cs typeface="Calibri"/>
                <a:sym typeface="Calibri"/>
              </a:rPr>
              <a:t>Both metrics reveal DMT effects: ACW reshapes the interoceptive–sensorimotor timescale hierarchy; sample entropy rises in exteroceptive and mental-self regions.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EDF2F7"/>
        </a:solidFill>
      </p:bgPr>
    </p:bg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4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p44"/>
          <p:cNvSpPr/>
          <p:nvPr/>
        </p:nvSpPr>
        <p:spPr>
          <a:xfrm>
            <a:off x="365710" y="2183100"/>
            <a:ext cx="84126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GB" sz="3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Not Available Publicly- Questionnaires</a:t>
            </a:r>
            <a:endParaRPr b="0" i="0" sz="3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44"/>
          <p:cNvSpPr/>
          <p:nvPr/>
        </p:nvSpPr>
        <p:spPr>
          <a:xfrm>
            <a:off x="491410" y="1098150"/>
            <a:ext cx="84126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GB" sz="3700" u="sng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Extras</a:t>
            </a:r>
            <a:endParaRPr b="0" i="0" sz="37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EDF2F7"/>
        </a:solidFill>
      </p:bgPr>
    </p:bg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45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Google Shape;488;p45"/>
          <p:cNvSpPr/>
          <p:nvPr/>
        </p:nvSpPr>
        <p:spPr>
          <a:xfrm>
            <a:off x="365760" y="0"/>
            <a:ext cx="18288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8F7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45"/>
          <p:cNvSpPr/>
          <p:nvPr/>
        </p:nvSpPr>
        <p:spPr>
          <a:xfrm>
            <a:off x="274325" y="0"/>
            <a:ext cx="85041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GB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 Psychological Clusters Examined With Questionnaires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45"/>
          <p:cNvSpPr/>
          <p:nvPr/>
        </p:nvSpPr>
        <p:spPr>
          <a:xfrm>
            <a:off x="200995" y="3103175"/>
            <a:ext cx="4206300" cy="1600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CE8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p45"/>
          <p:cNvSpPr/>
          <p:nvPr/>
        </p:nvSpPr>
        <p:spPr>
          <a:xfrm>
            <a:off x="201000" y="3103175"/>
            <a:ext cx="4206300" cy="409800"/>
          </a:xfrm>
          <a:prstGeom prst="rect">
            <a:avLst/>
          </a:prstGeom>
          <a:solidFill>
            <a:srgbClr val="2A7F8A"/>
          </a:solidFill>
          <a:ln cap="flat" cmpd="sng" w="12700">
            <a:solidFill>
              <a:srgbClr val="2A7F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p45"/>
          <p:cNvSpPr/>
          <p:nvPr/>
        </p:nvSpPr>
        <p:spPr>
          <a:xfrm>
            <a:off x="274150" y="3103175"/>
            <a:ext cx="4114800" cy="40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GB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3. Compassion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45"/>
          <p:cNvSpPr/>
          <p:nvPr/>
        </p:nvSpPr>
        <p:spPr>
          <a:xfrm>
            <a:off x="310725" y="3644425"/>
            <a:ext cx="4005000" cy="9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150"/>
              <a:buFont typeface="Calibri"/>
              <a:buNone/>
            </a:pPr>
            <a:r>
              <a:t/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94" name="Google Shape;494;p45"/>
          <p:cNvGrpSpPr/>
          <p:nvPr/>
        </p:nvGrpSpPr>
        <p:grpSpPr>
          <a:xfrm>
            <a:off x="200995" y="1255838"/>
            <a:ext cx="4206305" cy="1600200"/>
            <a:chOff x="182820" y="2559750"/>
            <a:chExt cx="4206305" cy="1600200"/>
          </a:xfrm>
        </p:grpSpPr>
        <p:sp>
          <p:nvSpPr>
            <p:cNvPr id="495" name="Google Shape;495;p45"/>
            <p:cNvSpPr/>
            <p:nvPr/>
          </p:nvSpPr>
          <p:spPr>
            <a:xfrm>
              <a:off x="182820" y="2559750"/>
              <a:ext cx="4206300" cy="1600200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D0DCE8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bl" dir="8100000" dist="25400">
                <a:srgbClr val="000000">
                  <a:alpha val="784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6" name="Google Shape;496;p45"/>
            <p:cNvSpPr/>
            <p:nvPr/>
          </p:nvSpPr>
          <p:spPr>
            <a:xfrm>
              <a:off x="182825" y="2559750"/>
              <a:ext cx="4206300" cy="409800"/>
            </a:xfrm>
            <a:prstGeom prst="rect">
              <a:avLst/>
            </a:prstGeom>
            <a:solidFill>
              <a:srgbClr val="2E4A6B"/>
            </a:solidFill>
            <a:ln cap="flat" cmpd="sng" w="12700">
              <a:solidFill>
                <a:srgbClr val="2E4A6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7" name="Google Shape;497;p45"/>
            <p:cNvSpPr/>
            <p:nvPr/>
          </p:nvSpPr>
          <p:spPr>
            <a:xfrm>
              <a:off x="255975" y="2559750"/>
              <a:ext cx="4114800" cy="47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-330200" lvl="0" marL="4572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Calibri"/>
                <a:buAutoNum type="arabicPeriod"/>
              </a:pPr>
              <a:r>
                <a:rPr b="1" i="0" lang="en-GB" sz="1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Mindfulness</a:t>
              </a:r>
              <a:endPara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8" name="Google Shape;498;p45"/>
            <p:cNvSpPr/>
            <p:nvPr/>
          </p:nvSpPr>
          <p:spPr>
            <a:xfrm>
              <a:off x="292550" y="3100950"/>
              <a:ext cx="4005000" cy="9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A2332"/>
                </a:buClr>
                <a:buSzPts val="1150"/>
                <a:buFont typeface="Calibri"/>
                <a:buNone/>
              </a:pPr>
              <a:r>
                <a:rPr b="0" i="0" lang="en-GB" sz="1450" u="none" cap="none" strike="noStrike">
                  <a:solidFill>
                    <a:srgbClr val="1A2332"/>
                  </a:solidFill>
                  <a:latin typeface="Calibri"/>
                  <a:ea typeface="Calibri"/>
                  <a:cs typeface="Calibri"/>
                  <a:sym typeface="Calibri"/>
                </a:rPr>
                <a:t>State mindfulness (during retreat)</a:t>
              </a:r>
              <a:endParaRPr b="0" i="0" sz="14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A2332"/>
                </a:buClr>
                <a:buSzPts val="1150"/>
                <a:buFont typeface="Calibri"/>
                <a:buNone/>
              </a:pPr>
              <a:r>
                <a:rPr b="0" i="0" lang="en-GB" sz="1450" u="none" cap="none" strike="noStrike">
                  <a:solidFill>
                    <a:srgbClr val="1A2332"/>
                  </a:solidFill>
                  <a:latin typeface="Calibri"/>
                  <a:ea typeface="Calibri"/>
                  <a:cs typeface="Calibri"/>
                  <a:sym typeface="Calibri"/>
                </a:rPr>
                <a:t>Trait mindfulness (before, after, 1-week follow-up)</a:t>
              </a:r>
              <a:endParaRPr b="0" i="0" sz="14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A2332"/>
                </a:buClr>
                <a:buSzPts val="1150"/>
                <a:buFont typeface="Calibri"/>
                <a:buNone/>
              </a:pPr>
              <a:r>
                <a:rPr b="1" i="0" lang="en-GB" sz="1450" u="none" cap="none" strike="noStrike">
                  <a:solidFill>
                    <a:srgbClr val="1A2332"/>
                  </a:solidFill>
                  <a:latin typeface="Calibri"/>
                  <a:ea typeface="Calibri"/>
                  <a:cs typeface="Calibri"/>
                  <a:sym typeface="Calibri"/>
                </a:rPr>
                <a:t>Instruments: </a:t>
              </a:r>
              <a:r>
                <a:rPr b="0" i="0" lang="en-GB" sz="1450" u="none" cap="none" strike="noStrike">
                  <a:solidFill>
                    <a:srgbClr val="1A2332"/>
                  </a:solidFill>
                  <a:latin typeface="Calibri"/>
                  <a:ea typeface="Calibri"/>
                  <a:cs typeface="Calibri"/>
                  <a:sym typeface="Calibri"/>
                </a:rPr>
                <a:t>TMS-13, FMI-13</a:t>
              </a:r>
              <a:endParaRPr b="0" i="0" sz="175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99" name="Google Shape;499;p45"/>
          <p:cNvSpPr/>
          <p:nvPr/>
        </p:nvSpPr>
        <p:spPr>
          <a:xfrm>
            <a:off x="274148" y="3588618"/>
            <a:ext cx="39135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150"/>
              <a:buFont typeface="Calibri"/>
              <a:buNone/>
            </a:pPr>
            <a:r>
              <a:rPr b="0" i="0" lang="en-GB" sz="135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Compassion for others &amp; for self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150"/>
              <a:buFont typeface="Calibri"/>
              <a:buNone/>
            </a:pPr>
            <a:r>
              <a:rPr b="0" i="0" lang="en-GB" sz="135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Five dimensions: recognizing, acknowledging universality,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150"/>
              <a:buFont typeface="Calibri"/>
              <a:buNone/>
            </a:pPr>
            <a:r>
              <a:rPr b="0" i="0" lang="en-GB" sz="135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feeling for, tolerating, acting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150"/>
              <a:buFont typeface="Calibri"/>
              <a:buNone/>
            </a:pPr>
            <a:r>
              <a:rPr b="1" i="0" lang="en-GB" sz="135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Instrument:</a:t>
            </a:r>
            <a:r>
              <a:rPr b="0" i="0" lang="en-GB" sz="135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 SOCS-O (20 items) + SOCS-S (20 items)</a:t>
            </a:r>
            <a:endParaRPr b="0" i="0" sz="1650" u="none" cap="none" strike="noStrike">
              <a:solidFill>
                <a:srgbClr val="1A233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45"/>
          <p:cNvSpPr/>
          <p:nvPr/>
        </p:nvSpPr>
        <p:spPr>
          <a:xfrm>
            <a:off x="4709130" y="1255850"/>
            <a:ext cx="4206300" cy="1600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CE8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p45"/>
          <p:cNvSpPr/>
          <p:nvPr/>
        </p:nvSpPr>
        <p:spPr>
          <a:xfrm>
            <a:off x="4709125" y="1255850"/>
            <a:ext cx="4206300" cy="409800"/>
          </a:xfrm>
          <a:prstGeom prst="rect">
            <a:avLst/>
          </a:prstGeom>
          <a:solidFill>
            <a:srgbClr val="6B8F71"/>
          </a:solidFill>
          <a:ln cap="flat" cmpd="sng" w="12700">
            <a:solidFill>
              <a:srgbClr val="6B8F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p45"/>
          <p:cNvSpPr/>
          <p:nvPr/>
        </p:nvSpPr>
        <p:spPr>
          <a:xfrm>
            <a:off x="4782275" y="1255850"/>
            <a:ext cx="4114800" cy="40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GB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2. Insight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45"/>
          <p:cNvSpPr/>
          <p:nvPr/>
        </p:nvSpPr>
        <p:spPr>
          <a:xfrm>
            <a:off x="4818850" y="1797050"/>
            <a:ext cx="4005000" cy="9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150"/>
              <a:buFont typeface="Calibri"/>
              <a:buNone/>
            </a:pPr>
            <a:r>
              <a:rPr b="0" i="0" lang="en-GB" sz="145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Psychological insight specific to psychedelic experience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150"/>
              <a:buFont typeface="Calibri"/>
              <a:buNone/>
            </a:pPr>
            <a:r>
              <a:rPr b="0" i="0" lang="en-GB" sz="145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Emotional breakthrough quality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150"/>
              <a:buFont typeface="Calibri"/>
              <a:buNone/>
            </a:pPr>
            <a:r>
              <a:rPr b="1" i="0" lang="en-GB" sz="145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Instruments:</a:t>
            </a:r>
            <a:r>
              <a:rPr b="0" i="0" lang="en-GB" sz="145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 PIS-6, EBI (6 items each)</a:t>
            </a:r>
            <a:endParaRPr b="0" i="0" sz="1750" u="none" cap="none" strike="noStrike">
              <a:solidFill>
                <a:srgbClr val="1A233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45"/>
          <p:cNvSpPr/>
          <p:nvPr/>
        </p:nvSpPr>
        <p:spPr>
          <a:xfrm>
            <a:off x="4709130" y="3084650"/>
            <a:ext cx="4206300" cy="1600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CE8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p45"/>
          <p:cNvSpPr/>
          <p:nvPr/>
        </p:nvSpPr>
        <p:spPr>
          <a:xfrm>
            <a:off x="4709125" y="3084650"/>
            <a:ext cx="4206300" cy="409800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" name="Google Shape;506;p45"/>
          <p:cNvSpPr/>
          <p:nvPr/>
        </p:nvSpPr>
        <p:spPr>
          <a:xfrm>
            <a:off x="4782275" y="3084650"/>
            <a:ext cx="4114800" cy="40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GB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4. Transcendence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45"/>
          <p:cNvSpPr/>
          <p:nvPr/>
        </p:nvSpPr>
        <p:spPr>
          <a:xfrm>
            <a:off x="4818850" y="3625900"/>
            <a:ext cx="4005000" cy="9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150"/>
              <a:buFont typeface="Calibri"/>
              <a:buNone/>
            </a:pPr>
            <a:r>
              <a:rPr b="0" i="0" lang="en-GB" sz="145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Mystical-type experiences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150"/>
              <a:buFont typeface="Calibri"/>
              <a:buNone/>
            </a:pPr>
            <a:r>
              <a:rPr b="0" i="0" lang="en-GB" sz="145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Non-dual awareness (state measure, immediate effect of meditation)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150"/>
              <a:buFont typeface="Calibri"/>
              <a:buNone/>
            </a:pPr>
            <a:r>
              <a:rPr b="1" i="0" lang="en-GB" sz="145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Instruments:</a:t>
            </a:r>
            <a:r>
              <a:rPr b="0" i="0" lang="en-GB" sz="145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 MEQ30 (30 items), NADA-S (3 items) </a:t>
            </a:r>
            <a:endParaRPr b="0" i="0" sz="1450" u="none" cap="none" strike="noStrike">
              <a:solidFill>
                <a:srgbClr val="1A233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EDF2F7"/>
        </a:solidFill>
      </p:bgPr>
    </p:bg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46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p46"/>
          <p:cNvSpPr/>
          <p:nvPr/>
        </p:nvSpPr>
        <p:spPr>
          <a:xfrm>
            <a:off x="365760" y="0"/>
            <a:ext cx="18288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8F71"/>
              </a:buClr>
              <a:buSzPts val="1000"/>
              <a:buFont typeface="Calibri"/>
              <a:buNone/>
            </a:pPr>
            <a:r>
              <a:rPr b="1" i="0" lang="en-GB" sz="1000" u="none" cap="none" strike="noStrike">
                <a:solidFill>
                  <a:srgbClr val="6B8F71"/>
                </a:solidFill>
                <a:latin typeface="Calibri"/>
                <a:ea typeface="Calibri"/>
                <a:cs typeface="Calibri"/>
                <a:sym typeface="Calibri"/>
              </a:rPr>
              <a:t>SUMMARY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46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GB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All Questionnaires at a Glance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16" name="Google Shape;516;p46"/>
          <p:cNvGraphicFramePr/>
          <p:nvPr/>
        </p:nvGraphicFramePr>
        <p:xfrm>
          <a:off x="274320" y="914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{DF616524-15C5-4D9A-91EB-1304FC00AD3D}</a:tableStyleId>
              </a:tblPr>
              <a:tblGrid>
                <a:gridCol w="2011675"/>
                <a:gridCol w="1463050"/>
                <a:gridCol w="640075"/>
                <a:gridCol w="2286000"/>
                <a:gridCol w="1097275"/>
              </a:tblGrid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GB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Instrument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GB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Cluster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GB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Items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GB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Timing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GB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Type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4A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2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GB" sz="1050" u="none" cap="none" strike="noStrike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TMS-13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0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2"/>
                        </a:buClr>
                        <a:buSzPts val="1050"/>
                        <a:buFont typeface="Calibri"/>
                        <a:buNone/>
                      </a:pPr>
                      <a:r>
                        <a:rPr lang="en-GB" sz="1050" u="none" cap="none" strike="noStrike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Mindfulness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0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2"/>
                        </a:buClr>
                        <a:buSzPts val="1050"/>
                        <a:buFont typeface="Calibri"/>
                        <a:buNone/>
                      </a:pPr>
                      <a:r>
                        <a:rPr lang="en-GB" sz="1050" u="none" cap="none" strike="noStrike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0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2"/>
                        </a:buClr>
                        <a:buSzPts val="1050"/>
                        <a:buFont typeface="Calibri"/>
                        <a:buNone/>
                      </a:pPr>
                      <a:r>
                        <a:rPr lang="en-GB" sz="1050" u="none" cap="none" strike="noStrike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Each retreat day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0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2"/>
                        </a:buClr>
                        <a:buSzPts val="1050"/>
                        <a:buFont typeface="Calibri"/>
                        <a:buNone/>
                      </a:pPr>
                      <a:r>
                        <a:rPr lang="en-GB" sz="1050" u="none" cap="none" strike="noStrike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State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0FB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2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GB" sz="1050" u="none" cap="none" strike="noStrike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FMI-13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0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2"/>
                        </a:buClr>
                        <a:buSzPts val="1050"/>
                        <a:buFont typeface="Calibri"/>
                        <a:buNone/>
                      </a:pPr>
                      <a:r>
                        <a:rPr lang="en-GB" sz="1050" u="none" cap="none" strike="noStrike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Mindfulness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0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2"/>
                        </a:buClr>
                        <a:buSzPts val="1050"/>
                        <a:buFont typeface="Calibri"/>
                        <a:buNone/>
                      </a:pPr>
                      <a:r>
                        <a:rPr lang="en-GB" sz="1050" u="none" cap="none" strike="noStrike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0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2"/>
                        </a:buClr>
                        <a:buSzPts val="1050"/>
                        <a:buFont typeface="Calibri"/>
                        <a:buNone/>
                      </a:pPr>
                      <a:r>
                        <a:rPr lang="en-GB" sz="1050" u="none" cap="none" strike="noStrike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Before / After / 1-week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0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2"/>
                        </a:buClr>
                        <a:buSzPts val="1050"/>
                        <a:buFont typeface="Calibri"/>
                        <a:buNone/>
                      </a:pPr>
                      <a:r>
                        <a:rPr lang="en-GB" sz="1050" u="none" cap="none" strike="noStrike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Trait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0FB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2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GB" sz="1050" u="none" cap="none" strike="noStrike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SOCS-O + SOCS-S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6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2"/>
                        </a:buClr>
                        <a:buSzPts val="1050"/>
                        <a:buFont typeface="Calibri"/>
                        <a:buNone/>
                      </a:pPr>
                      <a:r>
                        <a:rPr lang="en-GB" sz="1050" u="none" cap="none" strike="noStrike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Compassion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6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2"/>
                        </a:buClr>
                        <a:buSzPts val="1050"/>
                        <a:buFont typeface="Calibri"/>
                        <a:buNone/>
                      </a:pPr>
                      <a:r>
                        <a:rPr lang="en-GB" sz="1050" u="none" cap="none" strike="noStrike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20+20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6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2"/>
                        </a:buClr>
                        <a:buSzPts val="1050"/>
                        <a:buFont typeface="Calibri"/>
                        <a:buNone/>
                      </a:pPr>
                      <a:r>
                        <a:rPr lang="en-GB" sz="1050" u="none" cap="none" strike="noStrike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Retreat period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6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2"/>
                        </a:buClr>
                        <a:buSzPts val="1050"/>
                        <a:buFont typeface="Calibri"/>
                        <a:buNone/>
                      </a:pPr>
                      <a:r>
                        <a:rPr lang="en-GB" sz="1050" u="none" cap="none" strike="noStrike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State/Trait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6EA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2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GB" sz="1050" u="none" cap="none" strike="noStrike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PIS-6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5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2"/>
                        </a:buClr>
                        <a:buSzPts val="1050"/>
                        <a:buFont typeface="Calibri"/>
                        <a:buNone/>
                      </a:pPr>
                      <a:r>
                        <a:rPr lang="en-GB" sz="1050" u="none" cap="none" strike="noStrike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Insight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5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2"/>
                        </a:buClr>
                        <a:buSzPts val="1050"/>
                        <a:buFont typeface="Calibri"/>
                        <a:buNone/>
                      </a:pPr>
                      <a:r>
                        <a:rPr lang="en-GB" sz="1050" u="none" cap="none" strike="noStrike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5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2"/>
                        </a:buClr>
                        <a:buSzPts val="1050"/>
                        <a:buFont typeface="Calibri"/>
                        <a:buNone/>
                      </a:pPr>
                      <a:r>
                        <a:rPr lang="en-GB" sz="1050" u="none" cap="none" strike="noStrike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Post-session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5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2"/>
                        </a:buClr>
                        <a:buSzPts val="1050"/>
                        <a:buFont typeface="Calibri"/>
                        <a:buNone/>
                      </a:pPr>
                      <a:r>
                        <a:rPr lang="en-GB" sz="1050" u="none" cap="none" strike="noStrike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State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5F6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2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GB" sz="1050" u="none" cap="none" strike="noStrike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EBI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5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2"/>
                        </a:buClr>
                        <a:buSzPts val="1050"/>
                        <a:buFont typeface="Calibri"/>
                        <a:buNone/>
                      </a:pPr>
                      <a:r>
                        <a:rPr lang="en-GB" sz="1050" u="none" cap="none" strike="noStrike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Insight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5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2"/>
                        </a:buClr>
                        <a:buSzPts val="1050"/>
                        <a:buFont typeface="Calibri"/>
                        <a:buNone/>
                      </a:pPr>
                      <a:r>
                        <a:rPr lang="en-GB" sz="1050" u="none" cap="none" strike="noStrike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5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2"/>
                        </a:buClr>
                        <a:buSzPts val="1050"/>
                        <a:buFont typeface="Calibri"/>
                        <a:buNone/>
                      </a:pPr>
                      <a:r>
                        <a:rPr lang="en-GB" sz="1050" u="none" cap="none" strike="noStrike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Post-session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5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2"/>
                        </a:buClr>
                        <a:buSzPts val="1050"/>
                        <a:buFont typeface="Calibri"/>
                        <a:buNone/>
                      </a:pPr>
                      <a:r>
                        <a:rPr lang="en-GB" sz="1050" u="none" cap="none" strike="noStrike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State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5F6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2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GB" sz="1050" u="none" cap="none" strike="noStrike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MEQ30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3E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2"/>
                        </a:buClr>
                        <a:buSzPts val="1050"/>
                        <a:buFont typeface="Calibri"/>
                        <a:buNone/>
                      </a:pPr>
                      <a:r>
                        <a:rPr lang="en-GB" sz="1050" u="none" cap="none" strike="noStrike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Transcendence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3E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2"/>
                        </a:buClr>
                        <a:buSzPts val="1050"/>
                        <a:buFont typeface="Calibri"/>
                        <a:buNone/>
                      </a:pPr>
                      <a:r>
                        <a:rPr lang="en-GB" sz="1050" u="none" cap="none" strike="noStrike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30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3E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2"/>
                        </a:buClr>
                        <a:buSzPts val="1050"/>
                        <a:buFont typeface="Calibri"/>
                        <a:buNone/>
                      </a:pPr>
                      <a:r>
                        <a:rPr lang="en-GB" sz="1050" u="none" cap="none" strike="noStrike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Post-session (Day 2)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3E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2"/>
                        </a:buClr>
                        <a:buSzPts val="1050"/>
                        <a:buFont typeface="Calibri"/>
                        <a:buNone/>
                      </a:pPr>
                      <a:r>
                        <a:rPr lang="en-GB" sz="1050" u="none" cap="none" strike="noStrike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State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3E2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2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GB" sz="1050" u="none" cap="none" strike="noStrike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NADA-S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3E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2"/>
                        </a:buClr>
                        <a:buSzPts val="1050"/>
                        <a:buFont typeface="Calibri"/>
                        <a:buNone/>
                      </a:pPr>
                      <a:r>
                        <a:rPr lang="en-GB" sz="1050" u="none" cap="none" strike="noStrike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Transcendence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3E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2"/>
                        </a:buClr>
                        <a:buSzPts val="1050"/>
                        <a:buFont typeface="Calibri"/>
                        <a:buNone/>
                      </a:pPr>
                      <a:r>
                        <a:rPr lang="en-GB" sz="1050" u="none" cap="none" strike="noStrike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3E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2"/>
                        </a:buClr>
                        <a:buSzPts val="1050"/>
                        <a:buFont typeface="Calibri"/>
                        <a:buNone/>
                      </a:pPr>
                      <a:r>
                        <a:rPr lang="en-GB" sz="1050" u="none" cap="none" strike="noStrike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Immediately post-meditation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3E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2"/>
                        </a:buClr>
                        <a:buSzPts val="1050"/>
                        <a:buFont typeface="Calibri"/>
                        <a:buNone/>
                      </a:pPr>
                      <a:r>
                        <a:rPr lang="en-GB" sz="1050" u="none" cap="none" strike="noStrike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State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3E2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2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GB" sz="1050" u="none" cap="none" strike="noStrike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Meaningfulness Scale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2"/>
                        </a:buClr>
                        <a:buSzPts val="1050"/>
                        <a:buFont typeface="Calibri"/>
                        <a:buNone/>
                      </a:pPr>
                      <a:r>
                        <a:rPr lang="en-GB" sz="1050" u="none" cap="none" strike="noStrike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Secondary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2"/>
                        </a:buClr>
                        <a:buSzPts val="1050"/>
                        <a:buFont typeface="Calibri"/>
                        <a:buNone/>
                      </a:pPr>
                      <a:r>
                        <a:rPr lang="en-GB" sz="1050" u="none" cap="none" strike="noStrike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2"/>
                        </a:buClr>
                        <a:buSzPts val="1050"/>
                        <a:buFont typeface="Calibri"/>
                        <a:buNone/>
                      </a:pPr>
                      <a:r>
                        <a:rPr lang="en-GB" sz="1050" u="none" cap="none" strike="noStrike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1-month follow-up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2"/>
                        </a:buClr>
                        <a:buSzPts val="1050"/>
                        <a:buFont typeface="Calibri"/>
                        <a:buNone/>
                      </a:pPr>
                      <a:r>
                        <a:rPr lang="en-GB" sz="1050" u="none" cap="none" strike="noStrike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State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2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GB" sz="1050" u="none" cap="none" strike="noStrike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Blinding Efficacy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2"/>
                        </a:buClr>
                        <a:buSzPts val="1050"/>
                        <a:buFont typeface="Calibri"/>
                        <a:buNone/>
                      </a:pPr>
                      <a:r>
                        <a:rPr lang="en-GB" sz="1050" u="none" cap="none" strike="noStrike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Secondary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2"/>
                        </a:buClr>
                        <a:buSzPts val="1050"/>
                        <a:buFont typeface="Calibri"/>
                        <a:buNone/>
                      </a:pPr>
                      <a:r>
                        <a:rPr lang="en-GB" sz="1050" u="none" cap="none" strike="noStrike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~4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2"/>
                        </a:buClr>
                        <a:buSzPts val="1050"/>
                        <a:buFont typeface="Calibri"/>
                        <a:buNone/>
                      </a:pPr>
                      <a:r>
                        <a:rPr lang="en-GB" sz="1050" u="none" cap="none" strike="noStrike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End of Day 2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2"/>
                        </a:buClr>
                        <a:buSzPts val="1050"/>
                        <a:buFont typeface="Calibri"/>
                        <a:buNone/>
                      </a:pPr>
                      <a:r>
                        <a:rPr lang="en-GB" sz="1050" u="none" cap="none" strike="noStrike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State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2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GB" sz="1050" u="none" cap="none" strike="noStrike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Expectations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2"/>
                        </a:buClr>
                        <a:buSzPts val="1050"/>
                        <a:buFont typeface="Calibri"/>
                        <a:buNone/>
                      </a:pPr>
                      <a:r>
                        <a:rPr lang="en-GB" sz="1050" u="none" cap="none" strike="noStrike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Secondary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2"/>
                        </a:buClr>
                        <a:buSzPts val="1050"/>
                        <a:buFont typeface="Calibri"/>
                        <a:buNone/>
                      </a:pPr>
                      <a:r>
                        <a:rPr lang="en-GB" sz="1050" u="none" cap="none" strike="noStrike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5×2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2"/>
                        </a:buClr>
                        <a:buSzPts val="1050"/>
                        <a:buFont typeface="Calibri"/>
                        <a:buNone/>
                      </a:pPr>
                      <a:r>
                        <a:rPr lang="en-GB" sz="1050" u="none" cap="none" strike="noStrike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Day 2 morning (pre-drug)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2"/>
                        </a:buClr>
                        <a:buSzPts val="1050"/>
                        <a:buFont typeface="Calibri"/>
                        <a:buNone/>
                      </a:pPr>
                      <a:r>
                        <a:rPr lang="en-GB" sz="1050" u="none" cap="none" strike="noStrike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State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4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EDF2F7"/>
        </a:solidFill>
      </p:bgPr>
    </p:bg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47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3" name="Google Shape;523;p47"/>
          <p:cNvSpPr/>
          <p:nvPr/>
        </p:nvSpPr>
        <p:spPr>
          <a:xfrm>
            <a:off x="365760" y="0"/>
            <a:ext cx="18288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8F7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47"/>
          <p:cNvSpPr/>
          <p:nvPr/>
        </p:nvSpPr>
        <p:spPr>
          <a:xfrm>
            <a:off x="0" y="0"/>
            <a:ext cx="91440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GB" sz="2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Questionnaires Measuring Mindfulness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47"/>
          <p:cNvSpPr/>
          <p:nvPr/>
        </p:nvSpPr>
        <p:spPr>
          <a:xfrm>
            <a:off x="201005" y="3103181"/>
            <a:ext cx="8709900" cy="1600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CE8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1" i="0" sz="17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47"/>
          <p:cNvSpPr/>
          <p:nvPr/>
        </p:nvSpPr>
        <p:spPr>
          <a:xfrm>
            <a:off x="201016" y="3103181"/>
            <a:ext cx="8709900" cy="409800"/>
          </a:xfrm>
          <a:prstGeom prst="rect">
            <a:avLst/>
          </a:prstGeom>
          <a:solidFill>
            <a:srgbClr val="2A7F8A"/>
          </a:solidFill>
          <a:ln cap="flat" cmpd="sng" w="12700">
            <a:solidFill>
              <a:srgbClr val="2A7F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1" i="0" sz="17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47"/>
          <p:cNvSpPr/>
          <p:nvPr/>
        </p:nvSpPr>
        <p:spPr>
          <a:xfrm>
            <a:off x="352487" y="3103181"/>
            <a:ext cx="8520600" cy="40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GB" sz="17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Mindfulness as a Trait</a:t>
            </a:r>
            <a:endParaRPr b="1" i="0" sz="17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47"/>
          <p:cNvSpPr/>
          <p:nvPr/>
        </p:nvSpPr>
        <p:spPr>
          <a:xfrm>
            <a:off x="428223" y="3644429"/>
            <a:ext cx="8293200" cy="9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150"/>
              <a:buFont typeface="Calibri"/>
              <a:buNone/>
            </a:pPr>
            <a:r>
              <a:t/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29" name="Google Shape;529;p47"/>
          <p:cNvGrpSpPr/>
          <p:nvPr/>
        </p:nvGrpSpPr>
        <p:grpSpPr>
          <a:xfrm>
            <a:off x="201005" y="1255859"/>
            <a:ext cx="8709996" cy="2257184"/>
            <a:chOff x="182820" y="2559750"/>
            <a:chExt cx="4206305" cy="2257184"/>
          </a:xfrm>
        </p:grpSpPr>
        <p:sp>
          <p:nvSpPr>
            <p:cNvPr id="530" name="Google Shape;530;p47"/>
            <p:cNvSpPr/>
            <p:nvPr/>
          </p:nvSpPr>
          <p:spPr>
            <a:xfrm>
              <a:off x="182820" y="2559750"/>
              <a:ext cx="4206300" cy="1600200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D0DCE8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bl" dir="8100000" dist="25400">
                <a:srgbClr val="000000">
                  <a:alpha val="784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1" name="Google Shape;531;p47"/>
            <p:cNvSpPr/>
            <p:nvPr/>
          </p:nvSpPr>
          <p:spPr>
            <a:xfrm>
              <a:off x="182825" y="2559750"/>
              <a:ext cx="4206300" cy="409800"/>
            </a:xfrm>
            <a:prstGeom prst="rect">
              <a:avLst/>
            </a:prstGeom>
            <a:solidFill>
              <a:srgbClr val="2E4A6B"/>
            </a:solidFill>
            <a:ln cap="flat" cmpd="sng" w="12700">
              <a:solidFill>
                <a:srgbClr val="2E4A6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2" name="Google Shape;532;p47"/>
            <p:cNvSpPr/>
            <p:nvPr/>
          </p:nvSpPr>
          <p:spPr>
            <a:xfrm>
              <a:off x="255975" y="2559750"/>
              <a:ext cx="4114800" cy="47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b="1" i="0" lang="en-GB" sz="17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Mindfulness as a Temporary State</a:t>
              </a:r>
              <a:endParaRPr b="1" i="0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3" name="Google Shape;533;p47"/>
            <p:cNvSpPr/>
            <p:nvPr/>
          </p:nvSpPr>
          <p:spPr>
            <a:xfrm>
              <a:off x="292551" y="3100934"/>
              <a:ext cx="4005000" cy="171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A2332"/>
                </a:buClr>
                <a:buSzPts val="1150"/>
                <a:buFont typeface="Calibri"/>
                <a:buNone/>
              </a:pPr>
              <a:r>
                <a:rPr b="0" i="0" lang="en-GB" sz="1100" u="none" cap="none" strike="noStrike">
                  <a:solidFill>
                    <a:srgbClr val="1A2332"/>
                  </a:solidFill>
                  <a:latin typeface="Calibri"/>
                  <a:ea typeface="Calibri"/>
                  <a:cs typeface="Calibri"/>
                  <a:sym typeface="Calibri"/>
                </a:rPr>
                <a:t>TMS-13 — Toronto Mindfulness Scale </a:t>
              </a:r>
              <a:br>
                <a:rPr b="0" i="0" lang="en-GB" sz="1100" u="none" cap="none" strike="noStrike">
                  <a:solidFill>
                    <a:srgbClr val="1A2332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GB" sz="1100" u="none" cap="none" strike="noStrike">
                  <a:solidFill>
                    <a:srgbClr val="1A2332"/>
                  </a:solidFill>
                  <a:latin typeface="Calibri"/>
                  <a:ea typeface="Calibri"/>
                  <a:cs typeface="Calibri"/>
                  <a:sym typeface="Calibri"/>
                </a:rPr>
                <a:t>Items: 13</a:t>
              </a:r>
              <a:endParaRPr b="0" i="0" sz="110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A2332"/>
                </a:buClr>
                <a:buSzPts val="1150"/>
                <a:buFont typeface="Calibri"/>
                <a:buNone/>
              </a:pPr>
              <a:r>
                <a:t/>
              </a:r>
              <a:endParaRPr b="0" i="0" sz="110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A2332"/>
                </a:buClr>
                <a:buSzPts val="1150"/>
                <a:buFont typeface="Calibri"/>
                <a:buNone/>
              </a:pPr>
              <a:r>
                <a:rPr b="0" i="0" lang="en-GB" sz="1100" u="none" cap="none" strike="noStrike">
                  <a:solidFill>
                    <a:srgbClr val="1A2332"/>
                  </a:solidFill>
                  <a:latin typeface="Calibri"/>
                  <a:ea typeface="Calibri"/>
                  <a:cs typeface="Calibri"/>
                  <a:sym typeface="Calibri"/>
                </a:rPr>
                <a:t>Two factors:</a:t>
              </a:r>
              <a:endParaRPr b="0" i="0" sz="110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A2332"/>
                </a:buClr>
                <a:buSzPts val="1150"/>
                <a:buFont typeface="Calibri"/>
                <a:buNone/>
              </a:pPr>
              <a:r>
                <a:rPr b="0" i="0" lang="en-GB" sz="1100" u="none" cap="none" strike="noStrike">
                  <a:solidFill>
                    <a:srgbClr val="1A2332"/>
                  </a:solidFill>
                  <a:latin typeface="Calibri"/>
                  <a:ea typeface="Calibri"/>
                  <a:cs typeface="Calibri"/>
                  <a:sym typeface="Calibri"/>
                </a:rPr>
                <a:t>Curiosity — orientation toward learning about one's own subjective experiences</a:t>
              </a:r>
              <a:endParaRPr b="0" i="0" sz="110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A2332"/>
                </a:buClr>
                <a:buSzPts val="1150"/>
                <a:buFont typeface="Calibri"/>
                <a:buNone/>
              </a:pPr>
              <a:r>
                <a:rPr b="0" i="0" lang="en-GB" sz="1100" u="none" cap="none" strike="noStrike">
                  <a:solidFill>
                    <a:srgbClr val="1A2332"/>
                  </a:solidFill>
                  <a:latin typeface="Calibri"/>
                  <a:ea typeface="Calibri"/>
                  <a:cs typeface="Calibri"/>
                  <a:sym typeface="Calibri"/>
                </a:rPr>
                <a:t>Decentering — the extent to which a person identifies with experiences vs. seeing them as mere thoughts and emotions passing through</a:t>
              </a:r>
              <a:endParaRPr b="0" i="0" sz="110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A2332"/>
                </a:buClr>
                <a:buSzPts val="1150"/>
                <a:buFont typeface="Calibri"/>
                <a:buNone/>
              </a:pPr>
              <a:r>
                <a:t/>
              </a:r>
              <a:endParaRPr b="0" i="0" sz="110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34" name="Google Shape;534;p47"/>
          <p:cNvSpPr/>
          <p:nvPr/>
        </p:nvSpPr>
        <p:spPr>
          <a:xfrm>
            <a:off x="428225" y="3644425"/>
            <a:ext cx="8028000" cy="10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alibri"/>
              <a:buNone/>
            </a:pPr>
            <a:r>
              <a:rPr b="0" i="0" lang="en-GB" sz="110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FMI-13 – Freiburg Mindfulness Inventory</a:t>
            </a:r>
            <a:br>
              <a:rPr b="0" i="0" lang="en-GB" sz="110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GB" sz="110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Items: 13</a:t>
            </a:r>
            <a:endParaRPr b="0" i="0" sz="1100" u="none" cap="none" strike="noStrike">
              <a:solidFill>
                <a:srgbClr val="1A23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rgbClr val="1A23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alibri"/>
              <a:buNone/>
            </a:pPr>
            <a:r>
              <a:rPr b="0" i="0" lang="en-GB" sz="110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One-dimensional — a single construct of mindfulness derived from Buddhist psychology</a:t>
            </a:r>
            <a:endParaRPr b="0" i="0" sz="1100" u="none" cap="none" strike="noStrike">
              <a:solidFill>
                <a:srgbClr val="1A23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alibri"/>
              <a:buNone/>
            </a:pPr>
            <a:r>
              <a:rPr b="0" i="0" lang="en-GB" sz="110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Captures mindfulness as a stable disposition rather than a momentary state</a:t>
            </a:r>
            <a:endParaRPr b="0" i="0" sz="1100" u="none" cap="none" strike="noStrike">
              <a:solidFill>
                <a:srgbClr val="1A23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Calibri"/>
              <a:buNone/>
            </a:pPr>
            <a:r>
              <a:t/>
            </a:r>
            <a:endParaRPr b="0" i="0" sz="1450" u="none" cap="none" strike="noStrike">
              <a:solidFill>
                <a:srgbClr val="1A233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EDF2F7"/>
        </a:solidFill>
      </p:bgPr>
    </p:bg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48"/>
          <p:cNvSpPr/>
          <p:nvPr/>
        </p:nvSpPr>
        <p:spPr>
          <a:xfrm>
            <a:off x="0" y="0"/>
            <a:ext cx="9144000" cy="77730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48"/>
          <p:cNvSpPr/>
          <p:nvPr/>
        </p:nvSpPr>
        <p:spPr>
          <a:xfrm>
            <a:off x="365760" y="0"/>
            <a:ext cx="18288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8F7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48"/>
          <p:cNvSpPr/>
          <p:nvPr/>
        </p:nvSpPr>
        <p:spPr>
          <a:xfrm>
            <a:off x="0" y="0"/>
            <a:ext cx="91440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GB" sz="2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Questionnaires Measuring Compassion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48"/>
          <p:cNvSpPr/>
          <p:nvPr/>
        </p:nvSpPr>
        <p:spPr>
          <a:xfrm>
            <a:off x="320072" y="1292250"/>
            <a:ext cx="8412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600"/>
              <a:buFont typeface="Calibri"/>
              <a:buNone/>
            </a:pPr>
            <a:r>
              <a:rPr b="1" i="0" lang="en-GB" sz="160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Sussex-Oxford Compassion Scales (SOCS; Gu et al., 2020)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48"/>
          <p:cNvSpPr/>
          <p:nvPr/>
        </p:nvSpPr>
        <p:spPr>
          <a:xfrm>
            <a:off x="320072" y="1703730"/>
            <a:ext cx="8412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1250"/>
              <a:buFont typeface="Calibri"/>
              <a:buNone/>
            </a:pPr>
            <a:r>
              <a:rPr b="0" i="1" lang="en-GB" sz="125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Two 20-item scales: SOCS-O (compassion for Others) + SOCS-S (compassion for Self)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48"/>
          <p:cNvSpPr/>
          <p:nvPr/>
        </p:nvSpPr>
        <p:spPr>
          <a:xfrm>
            <a:off x="320072" y="2160930"/>
            <a:ext cx="8412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8F71"/>
              </a:buClr>
              <a:buSzPts val="1250"/>
              <a:buFont typeface="Calibri"/>
              <a:buNone/>
            </a:pPr>
            <a:r>
              <a:rPr b="1" i="0" lang="en-GB" sz="1250" u="none" cap="none" strike="noStrike">
                <a:solidFill>
                  <a:srgbClr val="6B8F71"/>
                </a:solidFill>
                <a:latin typeface="Calibri"/>
                <a:ea typeface="Calibri"/>
                <a:cs typeface="Calibri"/>
                <a:sym typeface="Calibri"/>
              </a:rPr>
              <a:t>Five Dimensions of Compassion Captured by Both Scales: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48"/>
          <p:cNvSpPr/>
          <p:nvPr/>
        </p:nvSpPr>
        <p:spPr>
          <a:xfrm>
            <a:off x="228633" y="2618130"/>
            <a:ext cx="3474600" cy="4755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C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p48"/>
          <p:cNvSpPr/>
          <p:nvPr/>
        </p:nvSpPr>
        <p:spPr>
          <a:xfrm>
            <a:off x="228632" y="2618130"/>
            <a:ext cx="329100" cy="475500"/>
          </a:xfrm>
          <a:prstGeom prst="rect">
            <a:avLst/>
          </a:prstGeom>
          <a:solidFill>
            <a:srgbClr val="6B8F71"/>
          </a:solidFill>
          <a:ln cap="flat" cmpd="sng" w="12700">
            <a:solidFill>
              <a:srgbClr val="6B8F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8" name="Google Shape;548;p48"/>
          <p:cNvSpPr/>
          <p:nvPr/>
        </p:nvSpPr>
        <p:spPr>
          <a:xfrm>
            <a:off x="228632" y="2618130"/>
            <a:ext cx="3291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GB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48"/>
          <p:cNvSpPr/>
          <p:nvPr/>
        </p:nvSpPr>
        <p:spPr>
          <a:xfrm>
            <a:off x="612681" y="2654706"/>
            <a:ext cx="30174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150"/>
              <a:buFont typeface="Calibri"/>
              <a:buNone/>
            </a:pPr>
            <a:r>
              <a:rPr b="0" i="0" lang="en-GB" sz="115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Recognizing suffering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48"/>
          <p:cNvSpPr/>
          <p:nvPr/>
        </p:nvSpPr>
        <p:spPr>
          <a:xfrm>
            <a:off x="228633" y="3185058"/>
            <a:ext cx="3474600" cy="4755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C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" name="Google Shape;551;p48"/>
          <p:cNvSpPr/>
          <p:nvPr/>
        </p:nvSpPr>
        <p:spPr>
          <a:xfrm>
            <a:off x="228632" y="3185058"/>
            <a:ext cx="329100" cy="475500"/>
          </a:xfrm>
          <a:prstGeom prst="rect">
            <a:avLst/>
          </a:prstGeom>
          <a:solidFill>
            <a:srgbClr val="6B8F71"/>
          </a:solidFill>
          <a:ln cap="flat" cmpd="sng" w="12700">
            <a:solidFill>
              <a:srgbClr val="6B8F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2" name="Google Shape;552;p48"/>
          <p:cNvSpPr/>
          <p:nvPr/>
        </p:nvSpPr>
        <p:spPr>
          <a:xfrm>
            <a:off x="228632" y="3185058"/>
            <a:ext cx="3291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GB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48"/>
          <p:cNvSpPr/>
          <p:nvPr/>
        </p:nvSpPr>
        <p:spPr>
          <a:xfrm>
            <a:off x="612681" y="3221634"/>
            <a:ext cx="30174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150"/>
              <a:buFont typeface="Calibri"/>
              <a:buNone/>
            </a:pPr>
            <a:r>
              <a:rPr b="0" i="0" lang="en-GB" sz="115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Acknowledging the universality of suffering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48"/>
          <p:cNvSpPr/>
          <p:nvPr/>
        </p:nvSpPr>
        <p:spPr>
          <a:xfrm>
            <a:off x="228633" y="3751986"/>
            <a:ext cx="3474600" cy="4755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C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" name="Google Shape;555;p48"/>
          <p:cNvSpPr/>
          <p:nvPr/>
        </p:nvSpPr>
        <p:spPr>
          <a:xfrm>
            <a:off x="228632" y="3751986"/>
            <a:ext cx="329100" cy="475500"/>
          </a:xfrm>
          <a:prstGeom prst="rect">
            <a:avLst/>
          </a:prstGeom>
          <a:solidFill>
            <a:srgbClr val="6B8F71"/>
          </a:solidFill>
          <a:ln cap="flat" cmpd="sng" w="12700">
            <a:solidFill>
              <a:srgbClr val="6B8F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" name="Google Shape;556;p48"/>
          <p:cNvSpPr/>
          <p:nvPr/>
        </p:nvSpPr>
        <p:spPr>
          <a:xfrm>
            <a:off x="228632" y="3751986"/>
            <a:ext cx="3291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GB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48"/>
          <p:cNvSpPr/>
          <p:nvPr/>
        </p:nvSpPr>
        <p:spPr>
          <a:xfrm>
            <a:off x="612681" y="3788562"/>
            <a:ext cx="30174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150"/>
              <a:buFont typeface="Calibri"/>
              <a:buNone/>
            </a:pPr>
            <a:r>
              <a:rPr b="0" i="0" lang="en-GB" sz="115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Feeling for the person suffering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48"/>
          <p:cNvSpPr/>
          <p:nvPr/>
        </p:nvSpPr>
        <p:spPr>
          <a:xfrm>
            <a:off x="3977672" y="2618130"/>
            <a:ext cx="4937700" cy="4755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C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p48"/>
          <p:cNvSpPr/>
          <p:nvPr/>
        </p:nvSpPr>
        <p:spPr>
          <a:xfrm>
            <a:off x="3977673" y="2618130"/>
            <a:ext cx="329100" cy="475500"/>
          </a:xfrm>
          <a:prstGeom prst="rect">
            <a:avLst/>
          </a:prstGeom>
          <a:solidFill>
            <a:srgbClr val="6B8F71"/>
          </a:solidFill>
          <a:ln cap="flat" cmpd="sng" w="12700">
            <a:solidFill>
              <a:srgbClr val="6B8F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0" name="Google Shape;560;p48"/>
          <p:cNvSpPr/>
          <p:nvPr/>
        </p:nvSpPr>
        <p:spPr>
          <a:xfrm>
            <a:off x="3977673" y="2618130"/>
            <a:ext cx="3291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GB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48"/>
          <p:cNvSpPr/>
          <p:nvPr/>
        </p:nvSpPr>
        <p:spPr>
          <a:xfrm>
            <a:off x="4361721" y="2654706"/>
            <a:ext cx="44805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150"/>
              <a:buFont typeface="Calibri"/>
              <a:buNone/>
            </a:pPr>
            <a:r>
              <a:rPr b="0" i="0" lang="en-GB" sz="115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Tolerating unpleasant experiences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48"/>
          <p:cNvSpPr/>
          <p:nvPr/>
        </p:nvSpPr>
        <p:spPr>
          <a:xfrm>
            <a:off x="3977672" y="3185058"/>
            <a:ext cx="4937700" cy="4755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C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" name="Google Shape;563;p48"/>
          <p:cNvSpPr/>
          <p:nvPr/>
        </p:nvSpPr>
        <p:spPr>
          <a:xfrm>
            <a:off x="3977673" y="3185058"/>
            <a:ext cx="329100" cy="475500"/>
          </a:xfrm>
          <a:prstGeom prst="rect">
            <a:avLst/>
          </a:prstGeom>
          <a:solidFill>
            <a:srgbClr val="6B8F71"/>
          </a:solidFill>
          <a:ln cap="flat" cmpd="sng" w="12700">
            <a:solidFill>
              <a:srgbClr val="6B8F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4" name="Google Shape;564;p48"/>
          <p:cNvSpPr/>
          <p:nvPr/>
        </p:nvSpPr>
        <p:spPr>
          <a:xfrm>
            <a:off x="3977673" y="3185058"/>
            <a:ext cx="3291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GB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48"/>
          <p:cNvSpPr/>
          <p:nvPr/>
        </p:nvSpPr>
        <p:spPr>
          <a:xfrm>
            <a:off x="4361721" y="3221634"/>
            <a:ext cx="44805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150"/>
              <a:buFont typeface="Calibri"/>
              <a:buNone/>
            </a:pPr>
            <a:r>
              <a:rPr b="0" i="0" lang="en-GB" sz="115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Motivation &amp; determination to act toward alleviating suffering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EDF2F7"/>
        </a:solidFill>
      </p:bgPr>
    </p:bg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49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2" name="Google Shape;572;p49"/>
          <p:cNvSpPr/>
          <p:nvPr/>
        </p:nvSpPr>
        <p:spPr>
          <a:xfrm>
            <a:off x="365760" y="0"/>
            <a:ext cx="18288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8F7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49"/>
          <p:cNvSpPr/>
          <p:nvPr/>
        </p:nvSpPr>
        <p:spPr>
          <a:xfrm>
            <a:off x="365750" y="0"/>
            <a:ext cx="84123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GB" sz="2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Questionnaires Measuring Insight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49"/>
          <p:cNvSpPr/>
          <p:nvPr/>
        </p:nvSpPr>
        <p:spPr>
          <a:xfrm>
            <a:off x="274320" y="914400"/>
            <a:ext cx="4114800" cy="1828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CE8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5" name="Google Shape;575;p49"/>
          <p:cNvSpPr/>
          <p:nvPr/>
        </p:nvSpPr>
        <p:spPr>
          <a:xfrm>
            <a:off x="274325" y="914400"/>
            <a:ext cx="4114800" cy="255900"/>
          </a:xfrm>
          <a:prstGeom prst="rect">
            <a:avLst/>
          </a:prstGeom>
          <a:solidFill>
            <a:srgbClr val="2E4A6B"/>
          </a:solidFill>
          <a:ln cap="flat" cmpd="sng" w="12700">
            <a:solidFill>
              <a:srgbClr val="2E4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6" name="Google Shape;576;p49"/>
          <p:cNvSpPr/>
          <p:nvPr/>
        </p:nvSpPr>
        <p:spPr>
          <a:xfrm>
            <a:off x="347472" y="914400"/>
            <a:ext cx="4023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GB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PIS-6 — Psychological Insight Scale (Peill et al., 2022)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49"/>
          <p:cNvSpPr/>
          <p:nvPr/>
        </p:nvSpPr>
        <p:spPr>
          <a:xfrm>
            <a:off x="384050" y="1443175"/>
            <a:ext cx="3913500" cy="12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150"/>
              <a:buFont typeface="Calibri"/>
              <a:buNone/>
            </a:pPr>
            <a:r>
              <a:rPr b="0" i="0" lang="en-GB" sz="115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Items: 6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150"/>
              <a:buFont typeface="Calibri"/>
              <a:buNone/>
            </a:pPr>
            <a:r>
              <a:rPr b="0" i="0" lang="en-GB" sz="115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Captures level of psychological insight specifically after a psychedelic experience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150"/>
              <a:buFont typeface="Calibri"/>
              <a:buNone/>
            </a:pPr>
            <a:r>
              <a:rPr b="0" i="0" lang="en-GB" sz="115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Designed to be used in psychedelic research contexts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49"/>
          <p:cNvSpPr/>
          <p:nvPr/>
        </p:nvSpPr>
        <p:spPr>
          <a:xfrm>
            <a:off x="4663440" y="914400"/>
            <a:ext cx="4206240" cy="1828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CE8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" name="Google Shape;579;p49"/>
          <p:cNvSpPr/>
          <p:nvPr/>
        </p:nvSpPr>
        <p:spPr>
          <a:xfrm>
            <a:off x="4663440" y="914400"/>
            <a:ext cx="4206240" cy="256032"/>
          </a:xfrm>
          <a:prstGeom prst="rect">
            <a:avLst/>
          </a:prstGeom>
          <a:solidFill>
            <a:srgbClr val="2A7F8A"/>
          </a:solidFill>
          <a:ln cap="flat" cmpd="sng" w="12700">
            <a:solidFill>
              <a:srgbClr val="2A7F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0" name="Google Shape;580;p49"/>
          <p:cNvSpPr/>
          <p:nvPr/>
        </p:nvSpPr>
        <p:spPr>
          <a:xfrm>
            <a:off x="4736592" y="914400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GB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EBI — Emotional Breakthrough Inventory (Roseman et al., 2019)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49"/>
          <p:cNvSpPr/>
          <p:nvPr/>
        </p:nvSpPr>
        <p:spPr>
          <a:xfrm>
            <a:off x="4773175" y="1443050"/>
            <a:ext cx="4005000" cy="12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150"/>
              <a:buFont typeface="Calibri"/>
              <a:buNone/>
            </a:pPr>
            <a:r>
              <a:rPr b="0" i="0" lang="en-GB" sz="115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Items: 6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150"/>
              <a:buFont typeface="Calibri"/>
              <a:buNone/>
            </a:pPr>
            <a:r>
              <a:rPr b="0" i="0" lang="en-GB" sz="115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Captures emotional insight quality — a type of insight typical for psychedelic experiences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150"/>
              <a:buFont typeface="Calibri"/>
              <a:buNone/>
            </a:pPr>
            <a:r>
              <a:rPr b="0" i="0" lang="en-GB" sz="115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Often accompanies personal &amp; transpersonal insights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150"/>
              <a:buFont typeface="Calibri"/>
              <a:buNone/>
            </a:pPr>
            <a:r>
              <a:rPr b="0" i="0" lang="en-GB" sz="115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Complementary to PIS-6 (cognitive vs. emotional insight)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49"/>
          <p:cNvSpPr/>
          <p:nvPr/>
        </p:nvSpPr>
        <p:spPr>
          <a:xfrm>
            <a:off x="274350" y="2926073"/>
            <a:ext cx="8595300" cy="1631700"/>
          </a:xfrm>
          <a:prstGeom prst="rect">
            <a:avLst/>
          </a:prstGeom>
          <a:solidFill>
            <a:srgbClr val="EEF1F7"/>
          </a:solidFill>
          <a:ln cap="flat" cmpd="sng" w="12700">
            <a:solidFill>
              <a:srgbClr val="2E4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" name="Google Shape;583;p49"/>
          <p:cNvSpPr/>
          <p:nvPr/>
        </p:nvSpPr>
        <p:spPr>
          <a:xfrm>
            <a:off x="457200" y="2999232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4A6B"/>
              </a:buClr>
              <a:buSzPts val="1150"/>
              <a:buFont typeface="Calibri"/>
              <a:buNone/>
            </a:pPr>
            <a:r>
              <a:rPr b="1" i="0" lang="en-GB" sz="1150" u="none" cap="none" strike="noStrike">
                <a:solidFill>
                  <a:srgbClr val="2E4A6B"/>
                </a:solidFill>
                <a:latin typeface="Calibri"/>
                <a:ea typeface="Calibri"/>
                <a:cs typeface="Calibri"/>
                <a:sym typeface="Calibri"/>
              </a:rPr>
              <a:t>Note: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49"/>
          <p:cNvSpPr/>
          <p:nvPr/>
        </p:nvSpPr>
        <p:spPr>
          <a:xfrm>
            <a:off x="457200" y="3310128"/>
            <a:ext cx="83210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100"/>
              <a:buFont typeface="Calibri"/>
              <a:buChar char="•"/>
            </a:pPr>
            <a:r>
              <a:rPr b="0" i="0" lang="en-GB" sz="110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PIS-6 and EBI assess acute/post-session insight quality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A2332"/>
              </a:buClr>
              <a:buSzPts val="1100"/>
              <a:buFont typeface="Calibri"/>
              <a:buChar char="•"/>
            </a:pPr>
            <a:r>
              <a:rPr b="0" i="0" lang="en-GB" sz="110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Both are 6-item self-report scales with validated use in psychedelic-assisted research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A2332"/>
              </a:buClr>
              <a:buSzPts val="1100"/>
              <a:buFont typeface="Calibri"/>
              <a:buChar char="•"/>
            </a:pPr>
            <a:r>
              <a:rPr b="0" i="0" lang="en-GB" sz="110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Psychedelic experiences can produce both cognitive insight (PIS-6) AND emotional breakthroughs (EBI)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EDF2F7"/>
        </a:solidFill>
      </p:bgPr>
    </p:bg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5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1" name="Google Shape;591;p50"/>
          <p:cNvSpPr/>
          <p:nvPr/>
        </p:nvSpPr>
        <p:spPr>
          <a:xfrm>
            <a:off x="365760" y="0"/>
            <a:ext cx="18288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8F7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50"/>
          <p:cNvSpPr/>
          <p:nvPr/>
        </p:nvSpPr>
        <p:spPr>
          <a:xfrm>
            <a:off x="274350" y="0"/>
            <a:ext cx="85038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GB" sz="2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Questionnaires Measuring Transcendence 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50"/>
          <p:cNvSpPr/>
          <p:nvPr/>
        </p:nvSpPr>
        <p:spPr>
          <a:xfrm>
            <a:off x="274320" y="914400"/>
            <a:ext cx="8595360" cy="1828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CE8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4" name="Google Shape;594;p50"/>
          <p:cNvSpPr/>
          <p:nvPr/>
        </p:nvSpPr>
        <p:spPr>
          <a:xfrm>
            <a:off x="274320" y="914400"/>
            <a:ext cx="8595360" cy="256032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5" name="Google Shape;595;p50"/>
          <p:cNvSpPr/>
          <p:nvPr/>
        </p:nvSpPr>
        <p:spPr>
          <a:xfrm>
            <a:off x="347472" y="914400"/>
            <a:ext cx="8503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GB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MEQ30 — Mystical Experience Questionnaire (Barrett et al., 2015)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50"/>
          <p:cNvSpPr/>
          <p:nvPr/>
        </p:nvSpPr>
        <p:spPr>
          <a:xfrm>
            <a:off x="384048" y="1207008"/>
            <a:ext cx="8394192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150"/>
              <a:buFont typeface="Calibri"/>
              <a:buNone/>
            </a:pPr>
            <a:r>
              <a:rPr b="0" i="0" lang="en-GB" sz="115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Items: 30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150"/>
              <a:buFont typeface="Calibri"/>
              <a:buNone/>
            </a:pPr>
            <a:r>
              <a:rPr b="0" i="0" lang="en-GB" sz="115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Captures individual mystical-type experiences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150"/>
              <a:buFont typeface="Calibri"/>
              <a:buNone/>
            </a:pPr>
            <a:r>
              <a:rPr b="0" i="0" lang="en-GB" sz="115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Predicts sustainable changes in attitudes, behavior &amp; well-being associated with psilocybin-occasioned experiences (Barrett et al., 2015)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150"/>
              <a:buFont typeface="Calibri"/>
              <a:buNone/>
            </a:pPr>
            <a:r>
              <a:rPr b="0" i="0" lang="en-GB" sz="115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Typically administered post-session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50"/>
          <p:cNvSpPr/>
          <p:nvPr/>
        </p:nvSpPr>
        <p:spPr>
          <a:xfrm>
            <a:off x="274320" y="2880360"/>
            <a:ext cx="8595360" cy="1828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CE8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8" name="Google Shape;598;p50"/>
          <p:cNvSpPr/>
          <p:nvPr/>
        </p:nvSpPr>
        <p:spPr>
          <a:xfrm>
            <a:off x="274320" y="2880360"/>
            <a:ext cx="8595360" cy="256032"/>
          </a:xfrm>
          <a:prstGeom prst="rect">
            <a:avLst/>
          </a:prstGeom>
          <a:solidFill>
            <a:srgbClr val="2A7F8A"/>
          </a:solidFill>
          <a:ln cap="flat" cmpd="sng" w="12700">
            <a:solidFill>
              <a:srgbClr val="2A7F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9" name="Google Shape;599;p50"/>
          <p:cNvSpPr/>
          <p:nvPr/>
        </p:nvSpPr>
        <p:spPr>
          <a:xfrm>
            <a:off x="347472" y="2880360"/>
            <a:ext cx="8503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GB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NADA-S — Nondual Awareness Dimensional Assessment – State (Hanley et al., 2018)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50"/>
          <p:cNvSpPr/>
          <p:nvPr/>
        </p:nvSpPr>
        <p:spPr>
          <a:xfrm>
            <a:off x="384048" y="3172968"/>
            <a:ext cx="8394192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150"/>
              <a:buFont typeface="Calibri"/>
              <a:buNone/>
            </a:pPr>
            <a:r>
              <a:rPr b="0" i="0" lang="en-GB" sz="115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Items: 3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150"/>
              <a:buFont typeface="Calibri"/>
              <a:buNone/>
            </a:pPr>
            <a:r>
              <a:rPr b="0" i="0" lang="en-GB" sz="115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Measures fluctuations in non-dual states of awareness evoked by contemplative practice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150"/>
              <a:buFont typeface="Calibri"/>
              <a:buNone/>
            </a:pPr>
            <a:r>
              <a:rPr b="0" i="0" lang="en-GB" sz="115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State measure: captures immediate effect of meditation practice on nondual awareness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150"/>
              <a:buFont typeface="Calibri"/>
              <a:buNone/>
            </a:pPr>
            <a:r>
              <a:rPr b="0" i="0" lang="en-GB" sz="115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Distinct from mystical experiences — focuses specifically on the nondual dimension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50"/>
          <p:cNvSpPr/>
          <p:nvPr/>
        </p:nvSpPr>
        <p:spPr>
          <a:xfrm>
            <a:off x="365760" y="4773168"/>
            <a:ext cx="8412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1000"/>
              <a:buFont typeface="Calibri"/>
              <a:buNone/>
            </a:pPr>
            <a:r>
              <a:rPr b="0" i="1" lang="en-GB" sz="100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Nondual awareness ≠ mystical experience: NADA-S is contemplative-practice-specific; MEQ30 is psychedelic-experience-specific.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EDF2F7"/>
        </a:solidFill>
      </p:bgPr>
    </p:bg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5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8" name="Google Shape;608;p51"/>
          <p:cNvSpPr/>
          <p:nvPr/>
        </p:nvSpPr>
        <p:spPr>
          <a:xfrm>
            <a:off x="274225" y="0"/>
            <a:ext cx="85038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GB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Secondary &amp; Contextual Measures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51"/>
          <p:cNvSpPr/>
          <p:nvPr/>
        </p:nvSpPr>
        <p:spPr>
          <a:xfrm>
            <a:off x="274320" y="914400"/>
            <a:ext cx="8595360" cy="19202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CE8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0" name="Google Shape;610;p51"/>
          <p:cNvSpPr/>
          <p:nvPr/>
        </p:nvSpPr>
        <p:spPr>
          <a:xfrm>
            <a:off x="274320" y="914400"/>
            <a:ext cx="8595360" cy="256032"/>
          </a:xfrm>
          <a:prstGeom prst="rect">
            <a:avLst/>
          </a:prstGeom>
          <a:solidFill>
            <a:srgbClr val="6B8F71"/>
          </a:solidFill>
          <a:ln cap="flat" cmpd="sng" w="12700">
            <a:solidFill>
              <a:srgbClr val="6B8F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1" name="Google Shape;611;p51"/>
          <p:cNvSpPr/>
          <p:nvPr/>
        </p:nvSpPr>
        <p:spPr>
          <a:xfrm>
            <a:off x="347472" y="914400"/>
            <a:ext cx="8503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GB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Meaningfulness &amp; Spiritual Significance (1-Month Follow-Up, Griffiths et al., 2006)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51"/>
          <p:cNvSpPr/>
          <p:nvPr/>
        </p:nvSpPr>
        <p:spPr>
          <a:xfrm>
            <a:off x="384048" y="1207008"/>
            <a:ext cx="8394192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150"/>
              <a:buFont typeface="Calibri"/>
              <a:buNone/>
            </a:pPr>
            <a:r>
              <a:rPr b="0" i="0" lang="en-GB" sz="115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Item 1 — Personal meaningfulness: 0 (routine experience) → 6 (top 5 most meaningful) → 7 (most meaningful ever)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150"/>
              <a:buFont typeface="Calibri"/>
              <a:buNone/>
            </a:pPr>
            <a:r>
              <a:rPr b="0" i="0" lang="en-GB" sz="115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Item 2 — Spiritual significance: 0 (not at all) → 4 (top 5 most spiritually significant) → 5 (most significant ever)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150"/>
              <a:buFont typeface="Calibri"/>
              <a:buNone/>
            </a:pPr>
            <a:r>
              <a:rPr b="0" i="0" lang="en-GB" sz="115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Item 3 — Well-being/life satisfaction change: 0 (decreased very much) → 3 (no change) → 6 (increased very much)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51"/>
          <p:cNvSpPr/>
          <p:nvPr/>
        </p:nvSpPr>
        <p:spPr>
          <a:xfrm>
            <a:off x="274320" y="2971800"/>
            <a:ext cx="4114800" cy="16916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CE8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4" name="Google Shape;614;p51"/>
          <p:cNvSpPr/>
          <p:nvPr/>
        </p:nvSpPr>
        <p:spPr>
          <a:xfrm>
            <a:off x="274320" y="2971800"/>
            <a:ext cx="4114800" cy="256032"/>
          </a:xfrm>
          <a:prstGeom prst="rect">
            <a:avLst/>
          </a:prstGeom>
          <a:solidFill>
            <a:srgbClr val="2E4A6B"/>
          </a:solidFill>
          <a:ln cap="flat" cmpd="sng" w="12700">
            <a:solidFill>
              <a:srgbClr val="2E4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5" name="Google Shape;615;p51"/>
          <p:cNvSpPr/>
          <p:nvPr/>
        </p:nvSpPr>
        <p:spPr>
          <a:xfrm>
            <a:off x="347472" y="2971800"/>
            <a:ext cx="4023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GB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Blinding Efficacy (End of Day 2)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51"/>
          <p:cNvSpPr/>
          <p:nvPr/>
        </p:nvSpPr>
        <p:spPr>
          <a:xfrm>
            <a:off x="384048" y="3264408"/>
            <a:ext cx="3913632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150"/>
              <a:buFont typeface="Calibri"/>
              <a:buNone/>
            </a:pPr>
            <a:r>
              <a:rPr b="0" i="0" lang="en-GB" sz="115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Did they guess correctly? (DMT-harmine or placebo?)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150"/>
              <a:buFont typeface="Calibri"/>
              <a:buNone/>
            </a:pPr>
            <a:r>
              <a:rPr b="0" i="0" lang="en-GB" sz="115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Confidence in their guess: 0–10 Likert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150"/>
              <a:buFont typeface="Calibri"/>
              <a:buNone/>
            </a:pPr>
            <a:r>
              <a:rPr b="0" i="0" lang="en-GB" sz="115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Satisfaction about their condition: 0–10 Likert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150"/>
              <a:buFont typeface="Calibri"/>
              <a:buNone/>
            </a:pPr>
            <a:r>
              <a:rPr b="0" i="0" lang="en-GB" sz="115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Disappointment about their condition: 0–10 Likert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51"/>
          <p:cNvSpPr/>
          <p:nvPr/>
        </p:nvSpPr>
        <p:spPr>
          <a:xfrm>
            <a:off x="4663440" y="2971800"/>
            <a:ext cx="4206240" cy="16916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CE8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8" name="Google Shape;618;p51"/>
          <p:cNvSpPr/>
          <p:nvPr/>
        </p:nvSpPr>
        <p:spPr>
          <a:xfrm>
            <a:off x="4663440" y="2971800"/>
            <a:ext cx="4206240" cy="256032"/>
          </a:xfrm>
          <a:prstGeom prst="rect">
            <a:avLst/>
          </a:prstGeom>
          <a:solidFill>
            <a:srgbClr val="2A7F8A"/>
          </a:solidFill>
          <a:ln cap="flat" cmpd="sng" w="12700">
            <a:solidFill>
              <a:srgbClr val="2A7F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9" name="Google Shape;619;p51"/>
          <p:cNvSpPr/>
          <p:nvPr/>
        </p:nvSpPr>
        <p:spPr>
          <a:xfrm>
            <a:off x="4736592" y="2971800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GB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Expectations (Day 2 Morning, pre-drug)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51"/>
          <p:cNvSpPr/>
          <p:nvPr/>
        </p:nvSpPr>
        <p:spPr>
          <a:xfrm>
            <a:off x="4773168" y="3264408"/>
            <a:ext cx="4005072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150"/>
              <a:buFont typeface="Calibri"/>
              <a:buNone/>
            </a:pPr>
            <a:r>
              <a:rPr b="0" i="0" lang="en-GB" sz="115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Rated separately for the scenario of receiving DMT-harmine AND placebo: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150"/>
              <a:buFont typeface="Calibri"/>
              <a:buNone/>
            </a:pPr>
            <a:r>
              <a:rPr b="0" i="0" lang="en-GB" sz="115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  • Positive experience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150"/>
              <a:buFont typeface="Calibri"/>
              <a:buNone/>
            </a:pPr>
            <a:r>
              <a:rPr b="0" i="0" lang="en-GB" sz="115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  • Challenging experience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150"/>
              <a:buFont typeface="Calibri"/>
              <a:buNone/>
            </a:pPr>
            <a:r>
              <a:rPr b="0" i="0" lang="en-GB" sz="115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  • Transformative experience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150"/>
              <a:buFont typeface="Calibri"/>
              <a:buNone/>
            </a:pPr>
            <a:r>
              <a:rPr b="0" i="0" lang="en-GB" sz="115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  • Meditative experience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150"/>
              <a:buFont typeface="Calibri"/>
              <a:buNone/>
            </a:pPr>
            <a:r>
              <a:rPr b="0" i="0" lang="en-GB" sz="115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  • Insightful experience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